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Projects</c:v>
                </c:pt>
              </c:strCache>
            </c:strRef>
          </c:tx>
          <c:spPr>
            <a:solidFill>
              <a:srgbClr val="C69300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500" u="none">
                    <a:solidFill>
                      <a:srgbClr val="25262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6930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5262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52621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Workplace</c:v>
                  </c:pt>
                  <c:pt idx="1">
                    <c:v>Culture</c:v>
                  </c:pt>
                  <c:pt idx="2">
                    <c:v>Residential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</c:v>
                </c:pt>
                <c:pt idx="1">
                  <c:v>8</c:v>
                </c:pt>
                <c:pt idx="2">
                  <c:v>4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500" u="none">
                  <a:solidFill>
                    <a:srgbClr val="25262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25262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5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7796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heikikun/Documents/skills/ppt-design-polish/examples/yellow/assets/studio.jpg">    </p:cNvPr>
          <p:cNvPicPr>
            <a:picLocks noChangeAspect="1"/>
          </p:cNvPicPr>
          <p:nvPr/>
        </p:nvPicPr>
        <p:blipFill>
          <a:blip r:embed="rId1"/>
          <a:srcRect l="25274" r="25274" t="0" b="0"/>
          <a:stretch/>
        </p:blipFill>
        <p:spPr>
          <a:xfrm>
            <a:off x="6172200" y="0"/>
            <a:ext cx="602589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1722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94360" y="1069848"/>
            <a:ext cx="594360" cy="100584"/>
          </a:xfrm>
          <a:prstGeom prst="rect">
            <a:avLst/>
          </a:prstGeom>
          <a:solidFill>
            <a:srgbClr val="F3C40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94360" y="256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80"/>
              </a:lnSpc>
              <a:buNone/>
            </a:pPr>
            <a:r>
              <a:rPr lang="en-US" altLang="en-US" sz="1000" b="1" dirty="0">
                <a:solidFill>
                  <a:srgbClr val="7779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ATELIER NORTH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373368"/>
            <a:ext cx="429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2"/>
              </a:lnSpc>
              <a:buNone/>
            </a:pPr>
            <a:r>
              <a:rPr lang="en-US" altLang="en-US" sz="900" dirty="0">
                <a:solidFill>
                  <a:srgbClr val="7779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94360" y="6336792"/>
            <a:ext cx="10149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2"/>
              </a:lnSpc>
              <a:buNone/>
            </a:pPr>
            <a:r>
              <a:rPr lang="en-US" altLang="en-US" sz="900" dirty="0">
                <a:solidFill>
                  <a:srgbClr val="7779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Fictional studio and illustrative data. AI-generated imagery.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94360" y="1600200"/>
            <a:ext cx="5394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240"/>
              </a:lnSpc>
              <a:buNone/>
            </a:pPr>
            <a:r>
              <a:rPr lang="en-US" altLang="en-US" sz="4000" b="1" dirty="0">
                <a:solidFill>
                  <a:srgbClr val="25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ATELIER</a:t>
            </a:r>
            <a:endParaRPr lang="en-US" sz="4000" dirty="0"/>
          </a:p>
          <a:p>
            <a:pPr indent="0" marL="0">
              <a:lnSpc>
                <a:spcPts val="4240"/>
              </a:lnSpc>
              <a:buNone/>
            </a:pPr>
            <a:r>
              <a:rPr lang="en-US" altLang="en-US" sz="4000" b="1" dirty="0">
                <a:solidFill>
                  <a:srgbClr val="25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621792" y="3822192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4"/>
              </a:lnSpc>
              <a:buNone/>
            </a:pPr>
            <a:r>
              <a:rPr lang="en-US" altLang="en-US" sz="1800" dirty="0">
                <a:solidFill>
                  <a:srgbClr val="25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Workspaces and cultural buildings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21792" y="539496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36"/>
              </a:lnSpc>
              <a:buNone/>
            </a:pPr>
            <a:r>
              <a:rPr lang="en-US" altLang="en-US" sz="1200" dirty="0">
                <a:solidFill>
                  <a:srgbClr val="7779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Daylight. Tactile materials. Clear space.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56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80"/>
              </a:lnSpc>
              <a:buNone/>
            </a:pPr>
            <a:r>
              <a:rPr lang="en-US" altLang="en-US" sz="1000" b="1" dirty="0">
                <a:solidFill>
                  <a:srgbClr val="7779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ATELIER NORTH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155680" y="6373368"/>
            <a:ext cx="429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2"/>
              </a:lnSpc>
              <a:buNone/>
            </a:pPr>
            <a:r>
              <a:rPr lang="en-US" altLang="en-US" sz="900" dirty="0">
                <a:solidFill>
                  <a:srgbClr val="7779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6336792"/>
            <a:ext cx="10149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2"/>
              </a:lnSpc>
              <a:buNone/>
            </a:pPr>
            <a:r>
              <a:rPr lang="en-US" altLang="en-US" sz="900" dirty="0">
                <a:solidFill>
                  <a:srgbClr val="7779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Fictional concept. Images express design direction, not a completed building.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10515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92"/>
              </a:lnSpc>
              <a:buNone/>
            </a:pPr>
            <a:r>
              <a:rPr lang="en-US" altLang="en-US" sz="3200" dirty="0">
                <a:solidFill>
                  <a:srgbClr val="25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pavilion concept</a:t>
            </a:r>
            <a:endParaRPr lang="en-US" sz="3200" dirty="0"/>
          </a:p>
        </p:txBody>
      </p:sp>
      <p:pic>
        <p:nvPicPr>
          <p:cNvPr id="6" name="Image 0" descr="/Users/heikikun/Documents/skills/ppt-design-polish/examples/yellow/assets/pavilion.jpg">    </p:cNvPr>
          <p:cNvPicPr>
            <a:picLocks noChangeAspect="1"/>
          </p:cNvPicPr>
          <p:nvPr/>
        </p:nvPicPr>
        <p:blipFill>
          <a:blip r:embed="rId1"/>
          <a:srcRect l="0" r="0" t="28308" b="28308"/>
          <a:stretch/>
        </p:blipFill>
        <p:spPr>
          <a:xfrm>
            <a:off x="594360" y="2304288"/>
            <a:ext cx="6949440" cy="376732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146597" y="5058827"/>
            <a:ext cx="292608" cy="292608"/>
          </a:xfrm>
          <a:prstGeom prst="ellipse">
            <a:avLst/>
          </a:prstGeom>
          <a:solidFill>
            <a:srgbClr val="C693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146597" y="5058827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80"/>
              </a:lnSpc>
              <a:buNone/>
            </a:pPr>
            <a:r>
              <a:rPr lang="en-US" alt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909560" y="24688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4"/>
              </a:lnSpc>
              <a:buNone/>
            </a:pPr>
            <a:r>
              <a:rPr lang="en-US" altLang="en-US" sz="1800" dirty="0">
                <a:solidFill>
                  <a:srgbClr val="C69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522208" y="2468880"/>
            <a:ext cx="29443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32"/>
              </a:lnSpc>
              <a:buNone/>
            </a:pPr>
            <a:r>
              <a:rPr lang="en-US" altLang="en-US" sz="1900" dirty="0">
                <a:solidFill>
                  <a:srgbClr val="25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narrow yellow entrance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2880360" y="3966301"/>
            <a:ext cx="292608" cy="292608"/>
          </a:xfrm>
          <a:prstGeom prst="ellipse">
            <a:avLst/>
          </a:prstGeom>
          <a:solidFill>
            <a:srgbClr val="C693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880360" y="3966301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80"/>
              </a:lnSpc>
              <a:buNone/>
            </a:pPr>
            <a:r>
              <a:rPr lang="en-US" alt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909560" y="36118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4"/>
              </a:lnSpc>
              <a:buNone/>
            </a:pPr>
            <a:r>
              <a:rPr lang="en-US" altLang="en-US" sz="1800" dirty="0">
                <a:solidFill>
                  <a:srgbClr val="C69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8522208" y="3611880"/>
            <a:ext cx="29443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32"/>
              </a:lnSpc>
              <a:buNone/>
            </a:pPr>
            <a:r>
              <a:rPr lang="en-US" altLang="en-US" sz="1900" dirty="0">
                <a:solidFill>
                  <a:srgbClr val="25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Pale limestone</a:t>
            </a:r>
            <a:endParaRPr lang="en-US" sz="1900" dirty="0"/>
          </a:p>
        </p:txBody>
      </p:sp>
      <p:sp>
        <p:nvSpPr>
          <p:cNvPr id="15" name="Shape 12"/>
          <p:cNvSpPr/>
          <p:nvPr/>
        </p:nvSpPr>
        <p:spPr>
          <a:xfrm>
            <a:off x="1143000" y="4569074"/>
            <a:ext cx="292608" cy="292608"/>
          </a:xfrm>
          <a:prstGeom prst="ellipse">
            <a:avLst/>
          </a:prstGeom>
          <a:solidFill>
            <a:srgbClr val="C693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43000" y="456907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80"/>
              </a:lnSpc>
              <a:buNone/>
            </a:pPr>
            <a:r>
              <a:rPr lang="en-US" alt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7909560" y="47548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4"/>
              </a:lnSpc>
              <a:buNone/>
            </a:pPr>
            <a:r>
              <a:rPr lang="en-US" altLang="en-US" sz="1800" dirty="0">
                <a:solidFill>
                  <a:srgbClr val="C69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8522208" y="4754880"/>
            <a:ext cx="29443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32"/>
              </a:lnSpc>
              <a:buNone/>
            </a:pPr>
            <a:r>
              <a:rPr lang="en-US" altLang="en-US" sz="1900" dirty="0">
                <a:solidFill>
                  <a:srgbClr val="25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Olive tree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56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80"/>
              </a:lnSpc>
              <a:buNone/>
            </a:pPr>
            <a:r>
              <a:rPr lang="en-US" altLang="en-US" sz="1000" b="1" dirty="0">
                <a:solidFill>
                  <a:srgbClr val="7779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ATELIER NORTH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155680" y="6373368"/>
            <a:ext cx="429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2"/>
              </a:lnSpc>
              <a:buNone/>
            </a:pPr>
            <a:r>
              <a:rPr lang="en-US" altLang="en-US" sz="900" dirty="0">
                <a:solidFill>
                  <a:srgbClr val="7779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6336792"/>
            <a:ext cx="10149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2"/>
              </a:lnSpc>
              <a:buNone/>
            </a:pPr>
            <a:r>
              <a:rPr lang="en-US" altLang="en-US" sz="900" dirty="0">
                <a:solidFill>
                  <a:srgbClr val="7779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Fictional studio and illustrative data. AI-generated imagery.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10515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92"/>
              </a:lnSpc>
              <a:buNone/>
            </a:pPr>
            <a:r>
              <a:rPr lang="en-US" altLang="en-US" sz="3200" dirty="0">
                <a:solidFill>
                  <a:srgbClr val="25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workplaces in a 24-project portfolio</a:t>
            </a:r>
            <a:endParaRPr lang="en-US" sz="3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85800" y="2468880"/>
          <a:ext cx="694944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8229600" y="2523744"/>
            <a:ext cx="3246120" cy="336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32"/>
              </a:lnSpc>
              <a:buNone/>
            </a:pPr>
            <a:r>
              <a:rPr lang="en-US" altLang="en-US" sz="1900" b="1" dirty="0">
                <a:solidFill>
                  <a:srgbClr val="25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projects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229600" y="2969768"/>
            <a:ext cx="324612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4"/>
              </a:lnSpc>
              <a:buNone/>
            </a:pPr>
            <a:r>
              <a:rPr lang="en-US" altLang="en-US" sz="1800" dirty="0">
                <a:solidFill>
                  <a:srgbClr val="25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Demonstration portfolio only.</a:t>
            </a:r>
            <a:endParaRPr lang="en-US" sz="1800" dirty="0"/>
          </a:p>
          <a:p>
            <a:pPr indent="0" marL="0">
              <a:lnSpc>
                <a:spcPts val="2304"/>
              </a:lnSpc>
              <a:buNone/>
            </a:pPr>
            <a:r>
              <a:rPr lang="en-US" altLang="en-US" sz="1800" dirty="0">
                <a:solidFill>
                  <a:srgbClr val="25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counts are not</a:t>
            </a:r>
            <a:endParaRPr lang="en-US" sz="1800" dirty="0"/>
          </a:p>
          <a:p>
            <a:pPr indent="0" marL="0">
              <a:lnSpc>
                <a:spcPts val="2304"/>
              </a:lnSpc>
              <a:buNone/>
            </a:pPr>
            <a:r>
              <a:rPr lang="en-US" altLang="en-US" sz="1800" dirty="0">
                <a:solidFill>
                  <a:srgbClr val="25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results.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56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80"/>
              </a:lnSpc>
              <a:buNone/>
            </a:pPr>
            <a:r>
              <a:rPr lang="en-US" altLang="en-US" sz="1000" b="1" dirty="0">
                <a:solidFill>
                  <a:srgbClr val="7779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ATELIER NORTH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155680" y="6373368"/>
            <a:ext cx="429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2"/>
              </a:lnSpc>
              <a:buNone/>
            </a:pPr>
            <a:r>
              <a:rPr lang="en-US" altLang="en-US" sz="900" dirty="0">
                <a:solidFill>
                  <a:srgbClr val="7779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6336792"/>
            <a:ext cx="10149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2"/>
              </a:lnSpc>
              <a:buNone/>
            </a:pPr>
            <a:r>
              <a:rPr lang="en-US" altLang="en-US" sz="900" dirty="0">
                <a:solidFill>
                  <a:srgbClr val="7779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project duration or fee is specified.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10515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92"/>
              </a:lnSpc>
              <a:buNone/>
            </a:pPr>
            <a:r>
              <a:rPr lang="en-US" altLang="en-US" sz="3200" dirty="0">
                <a:solidFill>
                  <a:srgbClr val="25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 to deliver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749808" y="3136392"/>
            <a:ext cx="10607040" cy="0"/>
          </a:xfrm>
          <a:prstGeom prst="line">
            <a:avLst/>
          </a:prstGeom>
          <a:noFill/>
          <a:ln w="7620">
            <a:solidFill>
              <a:srgbClr val="DDDFD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3063240"/>
            <a:ext cx="146304" cy="146304"/>
          </a:xfrm>
          <a:prstGeom prst="rect">
            <a:avLst/>
          </a:prstGeom>
          <a:solidFill>
            <a:srgbClr val="F3C40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450592"/>
            <a:ext cx="2313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72"/>
              </a:lnSpc>
              <a:buNone/>
            </a:pPr>
            <a:r>
              <a:rPr lang="en-US" altLang="en-US" sz="2400" dirty="0">
                <a:solidFill>
                  <a:srgbClr val="C69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49808" y="3511296"/>
            <a:ext cx="2313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88"/>
              </a:lnSpc>
              <a:buNone/>
            </a:pPr>
            <a:r>
              <a:rPr lang="en-US" altLang="en-US" sz="2100" b="1" dirty="0">
                <a:solidFill>
                  <a:srgbClr val="25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49808" y="4251960"/>
            <a:ext cx="231343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48"/>
              </a:lnSpc>
              <a:buNone/>
            </a:pPr>
            <a:r>
              <a:rPr lang="en-US" altLang="en-US" sz="1600" dirty="0">
                <a:solidFill>
                  <a:srgbClr val="7779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Clarify the brief.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447288" y="3063240"/>
            <a:ext cx="146304" cy="146304"/>
          </a:xfrm>
          <a:prstGeom prst="rect">
            <a:avLst/>
          </a:prstGeom>
          <a:solidFill>
            <a:srgbClr val="F3C40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47288" y="2450592"/>
            <a:ext cx="2313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72"/>
              </a:lnSpc>
              <a:buNone/>
            </a:pPr>
            <a:r>
              <a:rPr lang="en-US" altLang="en-US" sz="2400" dirty="0">
                <a:solidFill>
                  <a:srgbClr val="C69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447288" y="3511296"/>
            <a:ext cx="2313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88"/>
              </a:lnSpc>
              <a:buNone/>
            </a:pPr>
            <a:r>
              <a:rPr lang="en-US" altLang="en-US" sz="2100" b="1" dirty="0">
                <a:solidFill>
                  <a:srgbClr val="25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3447288" y="4251960"/>
            <a:ext cx="231343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48"/>
              </a:lnSpc>
              <a:buNone/>
            </a:pPr>
            <a:r>
              <a:rPr lang="en-US" altLang="en-US" sz="1600" dirty="0">
                <a:solidFill>
                  <a:srgbClr val="7779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spatial ideas.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144768" y="3063240"/>
            <a:ext cx="146304" cy="146304"/>
          </a:xfrm>
          <a:prstGeom prst="rect">
            <a:avLst/>
          </a:prstGeom>
          <a:solidFill>
            <a:srgbClr val="F3C40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44768" y="2450592"/>
            <a:ext cx="2313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72"/>
              </a:lnSpc>
              <a:buNone/>
            </a:pPr>
            <a:r>
              <a:rPr lang="en-US" altLang="en-US" sz="2400" dirty="0">
                <a:solidFill>
                  <a:srgbClr val="C69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144768" y="3511296"/>
            <a:ext cx="2313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88"/>
              </a:lnSpc>
              <a:buNone/>
            </a:pPr>
            <a:r>
              <a:rPr lang="en-US" altLang="en-US" sz="2100" b="1" dirty="0">
                <a:solidFill>
                  <a:srgbClr val="25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6144768" y="4251960"/>
            <a:ext cx="231343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48"/>
              </a:lnSpc>
              <a:buNone/>
            </a:pPr>
            <a:r>
              <a:rPr lang="en-US" altLang="en-US" sz="1600" dirty="0">
                <a:solidFill>
                  <a:srgbClr val="7779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 materials and</a:t>
            </a:r>
            <a:endParaRPr lang="en-US" sz="1600" dirty="0"/>
          </a:p>
          <a:p>
            <a:pPr indent="0" marL="0">
              <a:lnSpc>
                <a:spcPts val="2048"/>
              </a:lnSpc>
              <a:buNone/>
            </a:pPr>
            <a:r>
              <a:rPr lang="en-US" altLang="en-US" sz="1600" dirty="0">
                <a:solidFill>
                  <a:srgbClr val="7779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842248" y="3063240"/>
            <a:ext cx="146304" cy="146304"/>
          </a:xfrm>
          <a:prstGeom prst="rect">
            <a:avLst/>
          </a:prstGeom>
          <a:solidFill>
            <a:srgbClr val="F3C40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42248" y="2450592"/>
            <a:ext cx="2313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72"/>
              </a:lnSpc>
              <a:buNone/>
            </a:pPr>
            <a:r>
              <a:rPr lang="en-US" altLang="en-US" sz="2400" dirty="0">
                <a:solidFill>
                  <a:srgbClr val="C69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8842248" y="3511296"/>
            <a:ext cx="2313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88"/>
              </a:lnSpc>
              <a:buNone/>
            </a:pPr>
            <a:r>
              <a:rPr lang="en-US" altLang="en-US" sz="2100" b="1" dirty="0">
                <a:solidFill>
                  <a:srgbClr val="25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8842248" y="4251960"/>
            <a:ext cx="231343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48"/>
              </a:lnSpc>
              <a:buNone/>
            </a:pPr>
            <a:r>
              <a:rPr lang="en-US" altLang="en-US" sz="1600" dirty="0">
                <a:solidFill>
                  <a:srgbClr val="7779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the agreed</a:t>
            </a:r>
            <a:endParaRPr lang="en-US" sz="1600" dirty="0"/>
          </a:p>
          <a:p>
            <a:pPr indent="0" marL="0">
              <a:lnSpc>
                <a:spcPts val="2048"/>
              </a:lnSpc>
              <a:buNone/>
            </a:pPr>
            <a:r>
              <a:rPr lang="en-US" altLang="en-US" sz="1600" dirty="0">
                <a:solidFill>
                  <a:srgbClr val="7779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handover.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56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80"/>
              </a:lnSpc>
              <a:buNone/>
            </a:pPr>
            <a:r>
              <a:rPr lang="en-US" altLang="en-US" sz="1000" b="1" dirty="0">
                <a:solidFill>
                  <a:srgbClr val="7779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ATELIER NORTH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155680" y="6373368"/>
            <a:ext cx="429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2"/>
              </a:lnSpc>
              <a:buNone/>
            </a:pPr>
            <a:r>
              <a:rPr lang="en-US" altLang="en-US" sz="900" dirty="0">
                <a:solidFill>
                  <a:srgbClr val="7779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6336792"/>
            <a:ext cx="10149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2"/>
              </a:lnSpc>
              <a:buNone/>
            </a:pPr>
            <a:r>
              <a:rPr lang="en-US" altLang="en-US" sz="900" dirty="0">
                <a:solidFill>
                  <a:srgbClr val="7779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Fictional studio and illustrative data. AI-generated imagery.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1024128"/>
            <a:ext cx="5486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4"/>
              </a:lnSpc>
              <a:buNone/>
            </a:pPr>
            <a:r>
              <a:rPr lang="en-US" altLang="en-US" sz="3400" b="1" dirty="0">
                <a:solidFill>
                  <a:srgbClr val="25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Daylight and material</a:t>
            </a:r>
            <a:endParaRPr lang="en-US" sz="3400" dirty="0"/>
          </a:p>
          <a:p>
            <a:pPr algn="l" indent="0" marL="0">
              <a:lnSpc>
                <a:spcPts val="3604"/>
              </a:lnSpc>
              <a:buNone/>
            </a:pPr>
            <a:r>
              <a:rPr lang="en-US" altLang="en-US" sz="3400" b="1" dirty="0">
                <a:solidFill>
                  <a:srgbClr val="25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warmth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743200"/>
            <a:ext cx="46634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4"/>
              </a:lnSpc>
              <a:buNone/>
            </a:pPr>
            <a:r>
              <a:rPr lang="en-US" altLang="en-US" sz="2300" dirty="0">
                <a:solidFill>
                  <a:srgbClr val="25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design calm workspaces and</a:t>
            </a:r>
            <a:endParaRPr lang="en-US" sz="2300" dirty="0"/>
          </a:p>
          <a:p>
            <a:pPr algn="l" indent="0" marL="0">
              <a:lnSpc>
                <a:spcPts val="2944"/>
              </a:lnSpc>
              <a:buNone/>
            </a:pPr>
            <a:r>
              <a:rPr lang="en-US" altLang="en-US" sz="2300" dirty="0">
                <a:solidFill>
                  <a:srgbClr val="25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cultural buildings through</a:t>
            </a:r>
            <a:endParaRPr lang="en-US" sz="2300" dirty="0"/>
          </a:p>
          <a:p>
            <a:pPr algn="l" indent="0" marL="0">
              <a:lnSpc>
                <a:spcPts val="2944"/>
              </a:lnSpc>
              <a:buNone/>
            </a:pPr>
            <a:r>
              <a:rPr lang="en-US" altLang="en-US" sz="2300" dirty="0">
                <a:solidFill>
                  <a:srgbClr val="25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careful use of daylight, tactile</a:t>
            </a:r>
            <a:endParaRPr lang="en-US" sz="2300" dirty="0"/>
          </a:p>
          <a:p>
            <a:pPr algn="l" indent="0" marL="0">
              <a:lnSpc>
                <a:spcPts val="2944"/>
              </a:lnSpc>
              <a:buNone/>
            </a:pPr>
            <a:r>
              <a:rPr lang="en-US" altLang="en-US" sz="2300" dirty="0">
                <a:solidFill>
                  <a:srgbClr val="25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materials and a clear floor plan.</a:t>
            </a:r>
            <a:endParaRPr lang="en-US" sz="2300" dirty="0"/>
          </a:p>
        </p:txBody>
      </p:sp>
      <p:pic>
        <p:nvPicPr>
          <p:cNvPr id="7" name="Image 0" descr="/Users/heikikun/Documents/skills/ppt-design-polish/examples/yellow/assets/studio.jpg">    </p:cNvPr>
          <p:cNvPicPr>
            <a:picLocks noChangeAspect="1"/>
          </p:cNvPicPr>
          <p:nvPr/>
        </p:nvPicPr>
        <p:blipFill>
          <a:blip r:embed="rId1"/>
          <a:srcRect l="18967" r="18967" t="0" b="0"/>
          <a:stretch/>
        </p:blipFill>
        <p:spPr>
          <a:xfrm>
            <a:off x="6172200" y="1024128"/>
            <a:ext cx="5394960" cy="48920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ATELIER NORTH</dc:title>
  <dc:subject/>
  <dc:creator>PPT Design &amp; Polish</dc:creator>
  <cp:lastModifiedBy>PPT Design &amp; Polish</cp:lastModifiedBy>
  <cp:revision>1</cp:revision>
  <dcterms:created xsi:type="dcterms:W3CDTF">2026-10-21T14:56:51Z</dcterms:created>
  <dcterms:modified xsi:type="dcterms:W3CDTF">2026-10-21T14:56:51Z</dcterms:modified>
</cp:coreProperties>
</file>