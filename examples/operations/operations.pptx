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On-time dispatch</c:v>
                </c:pt>
              </c:strCache>
            </c:strRef>
          </c:tx>
          <c:spPr>
            <a:solidFill>
              <a:srgbClr val="292623"/>
            </a:solidFill>
            <a:ln w="25400" cap="flat">
              <a:solidFill>
                <a:srgbClr val="292623"/>
              </a:solidFill>
              <a:prstDash val="solid"/>
              <a:round/>
            </a:ln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500" u="none">
                    <a:solidFill>
                      <a:srgbClr val="292623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92623"/>
              </a:solidFill>
              <a:ln w="9525" cap="flat">
                <a:solidFill>
                  <a:srgbClr val="29262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Week 1</c:v>
                  </c:pt>
                  <c:pt idx="1">
                    <c:v>Week 2</c:v>
                  </c:pt>
                  <c:pt idx="2">
                    <c:v>Week 3</c:v>
                  </c:pt>
                  <c:pt idx="3">
                    <c:v>Week 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88</c:v>
                </c:pt>
                <c:pt idx="1">
                  <c:v>91</c:v>
                </c:pt>
                <c:pt idx="2">
                  <c:v>94</c:v>
                </c:pt>
                <c:pt idx="3">
                  <c:v>95</c:v>
                </c:pt>
              </c:numCache>
            </c:numRef>
          </c:val>
          <c:smooth val="0"/>
        </c:ser>
        <c:dLbls>
          <c:numFmt formatCode="0&quot;%&quot;" sourceLinked="0"/>
          <c:txPr>
            <a:bodyPr/>
            <a:lstStyle/>
            <a:p>
              <a:pPr>
                <a:defRPr b="0" i="0" strike="noStrike" sz="1500" u="none">
                  <a:solidFill>
                    <a:srgbClr val="292623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29262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8605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80"/>
              </a:lnSpc>
              <a:buNone/>
            </a:pPr>
            <a:r>
              <a:rPr lang="en-US" altLang="en-US" sz="1000" b="1" dirty="0">
                <a:solidFill>
                  <a:srgbClr val="686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/ PILOT REVIEW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155680" y="6373368"/>
            <a:ext cx="429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2"/>
              </a:lnSpc>
              <a:buNone/>
            </a:pPr>
            <a:r>
              <a:rPr lang="en-US" altLang="en-US" sz="900" dirty="0">
                <a:solidFill>
                  <a:srgbClr val="686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6336792"/>
            <a:ext cx="10149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2"/>
              </a:lnSpc>
              <a:buNone/>
            </a:pPr>
            <a:r>
              <a:rPr lang="en-US" altLang="en-US" sz="900" dirty="0">
                <a:solidFill>
                  <a:srgbClr val="686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Fictional demonstration. All observations and data are invented.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" y="1508760"/>
            <a:ext cx="10789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64"/>
              </a:lnSpc>
              <a:buNone/>
            </a:pPr>
            <a:r>
              <a:rPr lang="en-US" altLang="en-US" sz="4400" b="1" dirty="0">
                <a:solidFill>
                  <a:srgbClr val="29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Dispatch pilot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13232" y="36576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944"/>
              </a:lnSpc>
              <a:buNone/>
            </a:pPr>
            <a:r>
              <a:rPr lang="en-US" altLang="en-US" sz="2300" dirty="0">
                <a:solidFill>
                  <a:srgbClr val="29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Four-week operations review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13232" y="51663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76"/>
              </a:lnSpc>
              <a:buNone/>
            </a:pPr>
            <a:r>
              <a:rPr lang="en-US" altLang="en-US" sz="1700" dirty="0">
                <a:solidFill>
                  <a:srgbClr val="686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 for two more weeks before deciding on rollout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80"/>
              </a:lnSpc>
              <a:buNone/>
            </a:pPr>
            <a:r>
              <a:rPr lang="en-US" altLang="en-US" sz="1000" b="1" dirty="0">
                <a:solidFill>
                  <a:srgbClr val="686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/ PILOT REVIEW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155680" y="6373368"/>
            <a:ext cx="429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2"/>
              </a:lnSpc>
              <a:buNone/>
            </a:pPr>
            <a:r>
              <a:rPr lang="en-US" altLang="en-US" sz="900" dirty="0">
                <a:solidFill>
                  <a:srgbClr val="686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6336792"/>
            <a:ext cx="10149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2"/>
              </a:lnSpc>
              <a:buNone/>
            </a:pPr>
            <a:r>
              <a:rPr lang="en-US" altLang="en-US" sz="900" dirty="0">
                <a:solidFill>
                  <a:srgbClr val="686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Fictional demonstration. All observations and data are invented.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" y="9601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92"/>
              </a:lnSpc>
              <a:buNone/>
            </a:pPr>
            <a:r>
              <a:rPr lang="en-US" altLang="en-US" sz="3200" b="1" dirty="0">
                <a:solidFill>
                  <a:srgbClr val="29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On-time dispatch reached 95% in week 4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85800" y="224028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28"/>
              </a:lnSpc>
              <a:buNone/>
            </a:pPr>
            <a:r>
              <a:rPr lang="en-US" altLang="en-US" sz="8800" dirty="0">
                <a:solidFill>
                  <a:srgbClr val="29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8800" dirty="0"/>
          </a:p>
        </p:txBody>
      </p:sp>
      <p:sp>
        <p:nvSpPr>
          <p:cNvPr id="7" name="Text 5"/>
          <p:cNvSpPr/>
          <p:nvPr/>
        </p:nvSpPr>
        <p:spPr>
          <a:xfrm>
            <a:off x="777240" y="37033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4"/>
              </a:lnSpc>
              <a:buNone/>
            </a:pPr>
            <a:r>
              <a:rPr lang="en-US" altLang="en-US" sz="2300" dirty="0">
                <a:solidFill>
                  <a:srgbClr val="29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 baseline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5943600" y="246888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4"/>
              </a:lnSpc>
              <a:buNone/>
            </a:pPr>
            <a:r>
              <a:rPr lang="en-US" altLang="en-US" sz="2300" dirty="0">
                <a:solidFill>
                  <a:srgbClr val="29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On-time = carrier handover before</a:t>
            </a:r>
            <a:endParaRPr lang="en-US" sz="2300" dirty="0"/>
          </a:p>
          <a:p>
            <a:pPr algn="l" indent="0" marL="0">
              <a:lnSpc>
                <a:spcPts val="2944"/>
              </a:lnSpc>
              <a:buNone/>
            </a:pPr>
            <a:r>
              <a:rPr lang="en-US" altLang="en-US" sz="2300" dirty="0">
                <a:solidFill>
                  <a:srgbClr val="29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agreed cutoff; cancelled orders</a:t>
            </a:r>
            <a:endParaRPr lang="en-US" sz="2300" dirty="0"/>
          </a:p>
          <a:p>
            <a:pPr algn="l" indent="0" marL="0">
              <a:lnSpc>
                <a:spcPts val="2944"/>
              </a:lnSpc>
              <a:buNone/>
            </a:pPr>
            <a:r>
              <a:rPr lang="en-US" altLang="en-US" sz="2300" dirty="0">
                <a:solidFill>
                  <a:srgbClr val="29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excluded.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943600" y="402336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2"/>
              </a:lnSpc>
              <a:buNone/>
            </a:pPr>
            <a:r>
              <a:rPr lang="en-US" altLang="en-US" sz="1900" dirty="0">
                <a:solidFill>
                  <a:srgbClr val="29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2,400 pilot orders at one warehouse; a</a:t>
            </a:r>
            <a:endParaRPr lang="en-US" sz="1900" dirty="0"/>
          </a:p>
          <a:p>
            <a:pPr algn="l" indent="0" marL="0">
              <a:lnSpc>
                <a:spcPts val="2432"/>
              </a:lnSpc>
              <a:buNone/>
            </a:pPr>
            <a:r>
              <a:rPr lang="en-US" altLang="en-US" sz="1900" dirty="0">
                <a:solidFill>
                  <a:srgbClr val="29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2,000-order baseline. Different</a:t>
            </a:r>
            <a:endParaRPr lang="en-US" sz="1900" dirty="0"/>
          </a:p>
          <a:p>
            <a:pPr algn="l" indent="0" marL="0">
              <a:lnSpc>
                <a:spcPts val="2432"/>
              </a:lnSpc>
              <a:buNone/>
            </a:pPr>
            <a:r>
              <a:rPr lang="en-US" altLang="en-US" sz="1900" dirty="0">
                <a:solidFill>
                  <a:srgbClr val="29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mixes prevent a causal conclusion.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80"/>
              </a:lnSpc>
              <a:buNone/>
            </a:pPr>
            <a:r>
              <a:rPr lang="en-US" altLang="en-US" sz="1000" b="1" dirty="0">
                <a:solidFill>
                  <a:srgbClr val="686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/ PILOT REVIEW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155680" y="6373368"/>
            <a:ext cx="429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2"/>
              </a:lnSpc>
              <a:buNone/>
            </a:pPr>
            <a:r>
              <a:rPr lang="en-US" altLang="en-US" sz="900" dirty="0">
                <a:solidFill>
                  <a:srgbClr val="686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6336792"/>
            <a:ext cx="10149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2"/>
              </a:lnSpc>
              <a:buNone/>
            </a:pPr>
            <a:r>
              <a:rPr lang="en-US" altLang="en-US" sz="900" dirty="0">
                <a:solidFill>
                  <a:srgbClr val="686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On-time = carrier handover before the agreed cutoff; cancelled orders excluded.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10515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92"/>
              </a:lnSpc>
              <a:buNone/>
            </a:pPr>
            <a:r>
              <a:rPr lang="en-US" altLang="en-US" sz="3200" dirty="0">
                <a:solidFill>
                  <a:srgbClr val="29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On-time dispatch across the pilot</a:t>
            </a:r>
            <a:endParaRPr lang="en-US" sz="3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85800" y="2468880"/>
          <a:ext cx="694944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8229600" y="2523744"/>
            <a:ext cx="3246120" cy="1327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60"/>
              </a:lnSpc>
              <a:buNone/>
            </a:pPr>
            <a:r>
              <a:rPr lang="en-US" altLang="en-US" sz="2000" dirty="0">
                <a:solidFill>
                  <a:srgbClr val="29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pilot weeks show</a:t>
            </a:r>
            <a:endParaRPr lang="en-US" sz="2000" dirty="0"/>
          </a:p>
          <a:p>
            <a:pPr indent="0" marL="0">
              <a:lnSpc>
                <a:spcPts val="2560"/>
              </a:lnSpc>
              <a:buNone/>
            </a:pPr>
            <a:r>
              <a:rPr lang="en-US" altLang="en-US" sz="2000" dirty="0">
                <a:solidFill>
                  <a:srgbClr val="29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upward pattern. The</a:t>
            </a:r>
            <a:endParaRPr lang="en-US" sz="2000" dirty="0"/>
          </a:p>
          <a:p>
            <a:pPr indent="0" marL="0">
              <a:lnSpc>
                <a:spcPts val="2560"/>
              </a:lnSpc>
              <a:buNone/>
            </a:pPr>
            <a:r>
              <a:rPr lang="en-US" altLang="en-US" sz="2000" dirty="0">
                <a:solidFill>
                  <a:srgbClr val="29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does not establish</a:t>
            </a:r>
            <a:endParaRPr lang="en-US" sz="2000" dirty="0"/>
          </a:p>
          <a:p>
            <a:pPr indent="0" marL="0">
              <a:lnSpc>
                <a:spcPts val="2560"/>
              </a:lnSpc>
              <a:buNone/>
            </a:pPr>
            <a:r>
              <a:rPr lang="en-US" altLang="en-US" sz="2000" dirty="0">
                <a:solidFill>
                  <a:srgbClr val="29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why.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229600" y="4061968"/>
            <a:ext cx="3246120" cy="1002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60"/>
              </a:lnSpc>
              <a:buNone/>
            </a:pPr>
            <a:r>
              <a:rPr lang="en-US" altLang="en-US" sz="2000" dirty="0">
                <a:solidFill>
                  <a:srgbClr val="686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rounded rates.</a:t>
            </a:r>
            <a:endParaRPr lang="en-US" sz="2000" dirty="0"/>
          </a:p>
          <a:p>
            <a:pPr indent="0" marL="0">
              <a:lnSpc>
                <a:spcPts val="2560"/>
              </a:lnSpc>
              <a:buNone/>
            </a:pPr>
            <a:r>
              <a:rPr lang="en-US" altLang="en-US" sz="2000" dirty="0">
                <a:solidFill>
                  <a:srgbClr val="686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Per-week denominators</a:t>
            </a:r>
            <a:endParaRPr lang="en-US" sz="2000" dirty="0"/>
          </a:p>
          <a:p>
            <a:pPr indent="0" marL="0">
              <a:lnSpc>
                <a:spcPts val="2560"/>
              </a:lnSpc>
              <a:buNone/>
            </a:pPr>
            <a:r>
              <a:rPr lang="en-US" altLang="en-US" sz="2000" dirty="0">
                <a:solidFill>
                  <a:srgbClr val="686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not provided.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80"/>
              </a:lnSpc>
              <a:buNone/>
            </a:pPr>
            <a:r>
              <a:rPr lang="en-US" altLang="en-US" sz="1000" b="1" dirty="0">
                <a:solidFill>
                  <a:srgbClr val="686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/ PILOT REVIEW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155680" y="6373368"/>
            <a:ext cx="429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2"/>
              </a:lnSpc>
              <a:buNone/>
            </a:pPr>
            <a:r>
              <a:rPr lang="en-US" altLang="en-US" sz="900" dirty="0">
                <a:solidFill>
                  <a:srgbClr val="686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6336792"/>
            <a:ext cx="10149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2"/>
              </a:lnSpc>
              <a:buNone/>
            </a:pPr>
            <a:r>
              <a:rPr lang="en-US" altLang="en-US" sz="900" dirty="0">
                <a:solidFill>
                  <a:srgbClr val="686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Fictional demonstration. All observations and data are invented.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10515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92"/>
              </a:lnSpc>
              <a:buNone/>
            </a:pPr>
            <a:r>
              <a:rPr lang="en-US" altLang="en-US" sz="3200" dirty="0">
                <a:solidFill>
                  <a:srgbClr val="29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performance and measurement limits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423160"/>
          <a:ext cx="10917936" cy="1910080"/>
        </p:xfrm>
        <a:graphic>
          <a:graphicData uri="http://schemas.openxmlformats.org/drawingml/2006/table">
            <a:tbl>
              <a:tblPr/>
              <a:tblGrid>
                <a:gridCol w="2935916"/>
                <a:gridCol w="1467958"/>
                <a:gridCol w="1467958"/>
                <a:gridCol w="5046105"/>
              </a:tblGrid>
              <a:tr h="477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29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91440" marB="91440" anchor="mid">
                    <a:lnL w="0" cap="flat" cmpd="sng" algn="ctr">
                      <a:solidFill>
                        <a:srgbClr val="FAF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AF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2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2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b="1" dirty="0">
                          <a:solidFill>
                            <a:srgbClr val="29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Baseline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91440" marB="91440" anchor="mid">
                    <a:lnL w="0" cap="flat" cmpd="sng" algn="ctr">
                      <a:solidFill>
                        <a:srgbClr val="FAF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AF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2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2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b="1" dirty="0">
                          <a:solidFill>
                            <a:srgbClr val="29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 4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91440" marB="91440" anchor="mid">
                    <a:lnL w="0" cap="flat" cmpd="sng" algn="ctr">
                      <a:solidFill>
                        <a:srgbClr val="FAF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AF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2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2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29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Definition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91440" marB="91440" anchor="mid">
                    <a:lnL w="0" cap="flat" cmpd="sng" algn="ctr">
                      <a:solidFill>
                        <a:srgbClr val="FAF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AF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2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2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4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9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On-time dispatch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91440" marB="91440" anchor="mid">
                    <a:lnL w="0" cap="flat" cmpd="sng" algn="ctr">
                      <a:solidFill>
                        <a:srgbClr val="FAF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AF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2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2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29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88%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91440" marB="91440" anchor="mid">
                    <a:lnL w="0" cap="flat" cmpd="sng" algn="ctr">
                      <a:solidFill>
                        <a:srgbClr val="FAF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AF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2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2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29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95%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91440" marB="91440" anchor="mid">
                    <a:lnL w="0" cap="flat" cmpd="sng" algn="ctr">
                      <a:solidFill>
                        <a:srgbClr val="FAF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AF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2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2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9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Carrier handover before cutoff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91440" marB="91440" anchor="mid">
                    <a:lnL w="0" cap="flat" cmpd="sng" algn="ctr">
                      <a:solidFill>
                        <a:srgbClr val="FAF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AF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2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2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4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9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Median pick time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91440" marB="91440" anchor="mid">
                    <a:lnL w="0" cap="flat" cmpd="sng" algn="ctr">
                      <a:solidFill>
                        <a:srgbClr val="FAF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AF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2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2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29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 min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91440" marB="91440" anchor="mid">
                    <a:lnL w="0" cap="flat" cmpd="sng" algn="ctr">
                      <a:solidFill>
                        <a:srgbClr val="FAF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AF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2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2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29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 min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91440" marB="91440" anchor="mid">
                    <a:lnL w="0" cap="flat" cmpd="sng" algn="ctr">
                      <a:solidFill>
                        <a:srgbClr val="FAF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AF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2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2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9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Pick start to pick complete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91440" marB="91440" anchor="mid">
                    <a:lnL w="0" cap="flat" cmpd="sng" algn="ctr">
                      <a:solidFill>
                        <a:srgbClr val="FAF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AF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2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2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4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9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Exception rate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91440" marB="91440" anchor="mid">
                    <a:lnL w="0" cap="flat" cmpd="sng" algn="ctr">
                      <a:solidFill>
                        <a:srgbClr val="FAF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AF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2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2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29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6.0%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91440" marB="91440" anchor="mid">
                    <a:lnL w="0" cap="flat" cmpd="sng" algn="ctr">
                      <a:solidFill>
                        <a:srgbClr val="FAF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AF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2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2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29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4.5%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91440" marB="91440" anchor="mid">
                    <a:lnL w="0" cap="flat" cmpd="sng" algn="ctr">
                      <a:solidFill>
                        <a:srgbClr val="FAF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AF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2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2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9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Orders needing manual intervention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91440" marB="91440" anchor="mid">
                    <a:lnL w="0" cap="flat" cmpd="sng" algn="ctr">
                      <a:solidFill>
                        <a:srgbClr val="FAF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AF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2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2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4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4589272"/>
            <a:ext cx="10917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60"/>
              </a:lnSpc>
              <a:buNone/>
            </a:pPr>
            <a:r>
              <a:rPr lang="en-US" altLang="en-US" sz="2000" dirty="0">
                <a:solidFill>
                  <a:srgbClr val="29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Exception counts and pick-time distributions are not supplied.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80"/>
              </a:lnSpc>
              <a:buNone/>
            </a:pPr>
            <a:r>
              <a:rPr lang="en-US" altLang="en-US" sz="1000" b="1" dirty="0">
                <a:solidFill>
                  <a:srgbClr val="686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/ PILOT REVIEW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155680" y="6373368"/>
            <a:ext cx="429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2"/>
              </a:lnSpc>
              <a:buNone/>
            </a:pPr>
            <a:r>
              <a:rPr lang="en-US" altLang="en-US" sz="900" dirty="0">
                <a:solidFill>
                  <a:srgbClr val="686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6336792"/>
            <a:ext cx="10149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2"/>
              </a:lnSpc>
              <a:buNone/>
            </a:pPr>
            <a:r>
              <a:rPr lang="en-US" altLang="en-US" sz="900" dirty="0">
                <a:solidFill>
                  <a:srgbClr val="686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Fictional demonstration. All observations and data are invented.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" y="98755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92"/>
              </a:lnSpc>
              <a:buNone/>
            </a:pPr>
            <a:r>
              <a:rPr lang="en-US" altLang="en-US" sz="3200" b="1" dirty="0">
                <a:solidFill>
                  <a:srgbClr val="29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 the gaps before scaling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85800" y="2240280"/>
            <a:ext cx="6858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86"/>
              </a:lnSpc>
              <a:buNone/>
            </a:pPr>
            <a:r>
              <a:rPr lang="en-US" altLang="en-US" sz="3100" dirty="0">
                <a:solidFill>
                  <a:srgbClr val="A545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orders have missing handover</a:t>
            </a:r>
            <a:endParaRPr lang="en-US" sz="3100" dirty="0"/>
          </a:p>
          <a:p>
            <a:pPr algn="l" indent="0" marL="0">
              <a:lnSpc>
                <a:spcPts val="3286"/>
              </a:lnSpc>
              <a:buNone/>
            </a:pPr>
            <a:r>
              <a:rPr lang="en-US" altLang="en-US" sz="3100" dirty="0">
                <a:solidFill>
                  <a:srgbClr val="A545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timestamps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685800" y="352044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16"/>
              </a:lnSpc>
              <a:buNone/>
            </a:pPr>
            <a:r>
              <a:rPr lang="en-US" altLang="en-US" sz="2200" dirty="0">
                <a:solidFill>
                  <a:srgbClr val="29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were excluded from the on-time rate.</a:t>
            </a:r>
            <a:endParaRPr lang="en-US" sz="2200" dirty="0"/>
          </a:p>
          <a:p>
            <a:pPr algn="l" indent="0" marL="0">
              <a:lnSpc>
                <a:spcPts val="2816"/>
              </a:lnSpc>
              <a:buNone/>
            </a:pPr>
            <a:r>
              <a:rPr lang="en-US" altLang="en-US" sz="2200" dirty="0">
                <a:solidFill>
                  <a:srgbClr val="29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Investigate the missingness before interpreting the</a:t>
            </a:r>
            <a:endParaRPr lang="en-US" sz="2200" dirty="0"/>
          </a:p>
          <a:p>
            <a:pPr algn="l" indent="0" marL="0">
              <a:lnSpc>
                <a:spcPts val="2816"/>
              </a:lnSpc>
              <a:buNone/>
            </a:pPr>
            <a:r>
              <a:rPr lang="en-US" altLang="en-US" sz="2200" dirty="0">
                <a:solidFill>
                  <a:srgbClr val="29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0" y="233172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0"/>
              </a:lnSpc>
              <a:buNone/>
            </a:pPr>
            <a:r>
              <a:rPr lang="en-US" altLang="en-US" sz="2000" dirty="0">
                <a:solidFill>
                  <a:srgbClr val="29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8% of pilot volume</a:t>
            </a:r>
            <a:endParaRPr lang="en-US" sz="2000" dirty="0"/>
          </a:p>
          <a:p>
            <a:pPr algn="l" indent="0" marL="0">
              <a:lnSpc>
                <a:spcPts val="2560"/>
              </a:lnSpc>
              <a:buNone/>
            </a:pPr>
            <a:r>
              <a:rPr lang="en-US" altLang="en-US" sz="2000" dirty="0">
                <a:solidFill>
                  <a:srgbClr val="29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 from weekend</a:t>
            </a:r>
            <a:endParaRPr lang="en-US" sz="2000" dirty="0"/>
          </a:p>
          <a:p>
            <a:pPr algn="l" indent="0" marL="0">
              <a:lnSpc>
                <a:spcPts val="2560"/>
              </a:lnSpc>
              <a:buNone/>
            </a:pPr>
            <a:r>
              <a:rPr lang="en-US" altLang="en-US" sz="2000" dirty="0">
                <a:solidFill>
                  <a:srgbClr val="29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0" y="393192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0"/>
              </a:lnSpc>
              <a:buNone/>
            </a:pPr>
            <a:r>
              <a:rPr lang="en-US" altLang="en-US" sz="2000" dirty="0">
                <a:solidFill>
                  <a:srgbClr val="29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warehouse; no</a:t>
            </a:r>
            <a:endParaRPr lang="en-US" sz="2000" dirty="0"/>
          </a:p>
          <a:p>
            <a:pPr algn="l" indent="0" marL="0">
              <a:lnSpc>
                <a:spcPts val="2560"/>
              </a:lnSpc>
              <a:buNone/>
            </a:pPr>
            <a:r>
              <a:rPr lang="en-US" altLang="en-US" sz="2000" dirty="0">
                <a:solidFill>
                  <a:srgbClr val="29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cross-site replication</a:t>
            </a:r>
            <a:endParaRPr lang="en-US" sz="2000" dirty="0"/>
          </a:p>
          <a:p>
            <a:pPr algn="l" indent="0" marL="0">
              <a:lnSpc>
                <a:spcPts val="2560"/>
              </a:lnSpc>
              <a:buNone/>
            </a:pPr>
            <a:r>
              <a:rPr lang="en-US" altLang="en-US" sz="2000" dirty="0">
                <a:solidFill>
                  <a:srgbClr val="29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80"/>
              </a:lnSpc>
              <a:buNone/>
            </a:pPr>
            <a:r>
              <a:rPr lang="en-US" altLang="en-US" sz="1000" b="1" dirty="0">
                <a:solidFill>
                  <a:srgbClr val="686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/ PILOT REVIEW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155680" y="6373368"/>
            <a:ext cx="429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2"/>
              </a:lnSpc>
              <a:buNone/>
            </a:pPr>
            <a:r>
              <a:rPr lang="en-US" altLang="en-US" sz="900" dirty="0">
                <a:solidFill>
                  <a:srgbClr val="686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6336792"/>
            <a:ext cx="10149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2"/>
              </a:lnSpc>
              <a:buNone/>
            </a:pPr>
            <a:r>
              <a:rPr lang="en-US" altLang="en-US" sz="900" dirty="0">
                <a:solidFill>
                  <a:srgbClr val="686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Fictional demonstration. All observations and data are invented.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10515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92"/>
              </a:lnSpc>
              <a:buNone/>
            </a:pPr>
            <a:r>
              <a:rPr lang="en-US" altLang="en-US" sz="3200" dirty="0">
                <a:solidFill>
                  <a:srgbClr val="29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 observation; rollout remains undecided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85800" y="2377440"/>
            <a:ext cx="10789920" cy="775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944"/>
              </a:lnSpc>
              <a:buNone/>
            </a:pPr>
            <a:r>
              <a:rPr lang="en-US" altLang="en-US" sz="2300" dirty="0">
                <a:solidFill>
                  <a:srgbClr val="29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 for two more weeks, investigate the 40 missing timestamps with</a:t>
            </a:r>
            <a:endParaRPr lang="en-US" sz="2300" dirty="0"/>
          </a:p>
          <a:p>
            <a:pPr indent="0" marL="0">
              <a:lnSpc>
                <a:spcPts val="2944"/>
              </a:lnSpc>
              <a:buNone/>
            </a:pPr>
            <a:r>
              <a:rPr lang="en-US" altLang="en-US" sz="2300" dirty="0">
                <a:solidFill>
                  <a:srgbClr val="29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operations, and include a fuller weekend sample.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685800" y="3426968"/>
            <a:ext cx="10789920" cy="352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60"/>
              </a:lnSpc>
              <a:buNone/>
            </a:pPr>
            <a:r>
              <a:rPr lang="en-US" altLang="en-US" sz="2000" dirty="0">
                <a:solidFill>
                  <a:srgbClr val="686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names and completion dates have not been supplied.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Dispatch pilot</dc:title>
  <dc:subject/>
  <dc:creator>PPT Design &amp; Polish</dc:creator>
  <cp:lastModifiedBy>PPT Design &amp; Polish</cp:lastModifiedBy>
  <cp:revision>1</cp:revision>
  <dcterms:created xsi:type="dcterms:W3CDTF">2026-10-21T15:05:19Z</dcterms:created>
  <dcterms:modified xsi:type="dcterms:W3CDTF">2026-10-21T15:05:19Z</dcterms:modified>
</cp:coreProperties>
</file>