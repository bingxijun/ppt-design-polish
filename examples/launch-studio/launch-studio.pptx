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任务</c:v>
                </c:pt>
              </c:strCache>
            </c:strRef>
          </c:tx>
          <c:spPr>
            <a:solidFill>
              <a:srgbClr val="B0772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202623"/>
                    </a:solidFill>
                    <a:latin typeface="Avenir Nex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7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02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026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0262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阅读</c:v>
                  </c:pt>
                  <c:pt idx="1">
                    <c:v>屏幕工作</c:v>
                  </c:pt>
                  <c:pt idx="2">
                    <c:v>手作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700" u="none">
                  <a:solidFill>
                    <a:srgbClr val="202623"/>
                  </a:solidFill>
                  <a:latin typeface="Avenir Nex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02623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5C"/>
                </a:solidFill>
                <a:latin typeface="Avenir Nex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4F3EE"/>
        </a:solidFill>
        <a:ln>
          <a:noFill/>
        </a:ln>
        <a:effectLst/>
      </c:spPr>
    </c:plotArea>
    <c:plotVisOnly val="1"/>
    <c:dispBlanksAs val="span"/>
  </c:chart>
  <c:spPr>
    <a:solidFill>
      <a:srgbClr val="F4F3E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使用时长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0772A"/>
              </a:solidFill>
              <a:effectLst/>
            </c:spPr>
          </c:dPt>
          <c:dPt>
            <c:idx val="1"/>
            <c:bubble3D val="0"/>
            <c:spPr>
              <a:solidFill>
                <a:srgbClr val="414B47"/>
              </a:solidFill>
              <a:effectLst/>
            </c:spPr>
          </c:dPt>
          <c:dPt>
            <c:idx val="2"/>
            <c:bubble3D val="0"/>
            <c:spPr>
              <a:solidFill>
                <a:srgbClr val="7D8982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202623"/>
                      </a:solidFill>
                      <a:latin typeface="Avenir Nex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202623"/>
                      </a:solidFill>
                      <a:latin typeface="Avenir Nex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700" b="0" i="0" u="none" strike="noStrike">
                      <a:solidFill>
                        <a:srgbClr val="202623"/>
                      </a:solidFill>
                      <a:latin typeface="Avenir Nex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家庭书桌</c:v>
                </c:pt>
                <c:pt idx="1">
                  <c:v>共享工作位</c:v>
                </c:pt>
                <c:pt idx="2">
                  <c:v>临时阅读角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firstSliceAng val="0"/>
        <c:holeSize val="76"/>
      </c:doughnutChart>
      <c:spPr>
        <a:solidFill>
          <a:srgbClr val="F4F3EE"/>
        </a:solidFill>
        <a:ln>
          <a:noFill/>
        </a:ln>
        <a:effectLst/>
      </c:spPr>
    </c:plotArea>
    <c:plotVisOnly val="1"/>
    <c:dispBlanksAs val="span"/>
  </c:chart>
  <c:spPr>
    <a:solidFill>
      <a:srgbClr val="F4F3E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试用人数</c:v>
                </c:pt>
              </c:strCache>
            </c:strRef>
          </c:tx>
          <c:spPr>
            <a:solidFill>
              <a:srgbClr val="B0772A"/>
            </a:solidFill>
            <a:ln w="31750" cap="flat">
              <a:solidFill>
                <a:srgbClr val="B0772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700" u="none">
                    <a:solidFill>
                      <a:srgbClr val="202623"/>
                    </a:solidFill>
                    <a:latin typeface="Avenir Nex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772A"/>
              </a:solidFill>
              <a:ln w="9525" cap="flat">
                <a:solidFill>
                  <a:srgbClr val="B07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20</c:v>
                </c:pt>
                <c:pt idx="2">
                  <c:v>28</c:v>
                </c:pt>
                <c:pt idx="3">
                  <c:v>39</c:v>
                </c:pt>
                <c:pt idx="4">
                  <c:v>50</c:v>
                </c:pt>
                <c:pt idx="5">
                  <c:v>64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700" u="none">
                  <a:solidFill>
                    <a:srgbClr val="202623"/>
                  </a:solidFill>
                  <a:latin typeface="Avenir Nex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02623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5C"/>
                </a:solidFill>
                <a:latin typeface="Avenir Nex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4F3EE"/>
        </a:solidFill>
        <a:ln>
          <a:noFill/>
        </a:ln>
        <a:effectLst/>
      </c:spPr>
    </c:plotArea>
    <c:plotVisOnly val="1"/>
    <c:dispBlanksAs val="span"/>
  </c:chart>
  <c:spPr>
    <a:solidFill>
      <a:srgbClr val="F4F3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ikikun/Documents/skills/ppt-design-polish/examples/launch-studio/assets/hero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1188720"/>
            <a:ext cx="594360" cy="0"/>
          </a:xfrm>
          <a:prstGeom prst="line">
            <a:avLst/>
          </a:prstGeom>
          <a:noFill/>
          <a:ln w="7620">
            <a:solidFill>
              <a:srgbClr val="B077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618488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68"/>
              </a:lnSpc>
              <a:buNone/>
            </a:pPr>
            <a:r>
              <a:rPr lang="zh-CN" altLang="en-US" sz="78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弧光</a:t>
            </a:r>
            <a:endParaRPr lang="zh-CN" sz="78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56"/>
              </a:lnSpc>
              <a:buNone/>
            </a:pPr>
            <a:r>
              <a:rPr lang="zh-CN" altLang="en-US" sz="27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自适应桌面照明</a:t>
            </a:r>
            <a:endParaRPr lang="zh-CN" sz="2700" dirty="0"/>
          </a:p>
        </p:txBody>
      </p:sp>
      <p:sp>
        <p:nvSpPr>
          <p:cNvPr id="6" name="Text 3"/>
          <p:cNvSpPr/>
          <p:nvPr/>
        </p:nvSpPr>
        <p:spPr>
          <a:xfrm>
            <a:off x="731520" y="51846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概念提案 / PRODUCT CONCEPT</a:t>
            </a:r>
            <a:endParaRPr lang="zh-CN" sz="1700" dirty="0"/>
          </a:p>
        </p:txBody>
      </p:sp>
      <p:sp>
        <p:nvSpPr>
          <p:cNvPr id="7" name="Shape 4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zh-CN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2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ikikun/Documents/skills/ppt-design-polish/examples/launch-studio/assets/detail.jpg">    </p:cNvPr>
          <p:cNvPicPr>
            <a:picLocks noChangeAspect="1"/>
          </p:cNvPicPr>
          <p:nvPr/>
        </p:nvPicPr>
        <p:blipFill>
          <a:blip r:embed="rId1"/>
          <a:srcRect l="4183" r="4183" t="0" b="0"/>
          <a:stretch/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7568" y="777240"/>
            <a:ext cx="566928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F7F7F4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随环境调光，保留手动选择</a:t>
            </a:r>
            <a:endParaRPr lang="zh-CN" sz="3400" dirty="0"/>
          </a:p>
        </p:txBody>
      </p:sp>
      <p:pic>
        <p:nvPicPr>
          <p:cNvPr id="4" name="Image 1" descr="/Users/heikikun/Documents/skills/ppt-design-polish/examples/launch-studio/assets/icons/radio-f7f7f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249424"/>
            <a:ext cx="292608" cy="292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09360" y="2194560"/>
            <a:ext cx="505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F7F7F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环境感知</a:t>
            </a:r>
            <a:endParaRPr lang="zh-CN" sz="2200" dirty="0"/>
          </a:p>
        </p:txBody>
      </p:sp>
      <p:sp>
        <p:nvSpPr>
          <p:cNvPr id="6" name="Text 2"/>
          <p:cNvSpPr/>
          <p:nvPr/>
        </p:nvSpPr>
        <p:spPr>
          <a:xfrm>
            <a:off x="6309360" y="2679192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CFD4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采集桌面环境光，作为调光输入。</a:t>
            </a:r>
            <a:endParaRPr lang="zh-CN" sz="1800" dirty="0"/>
          </a:p>
        </p:txBody>
      </p:sp>
      <p:sp>
        <p:nvSpPr>
          <p:cNvPr id="7" name="Shape 3"/>
          <p:cNvSpPr/>
          <p:nvPr/>
        </p:nvSpPr>
        <p:spPr>
          <a:xfrm>
            <a:off x="6309360" y="3182112"/>
            <a:ext cx="5056632" cy="0"/>
          </a:xfrm>
          <a:prstGeom prst="line">
            <a:avLst/>
          </a:prstGeom>
          <a:noFill/>
          <a:ln w="7620">
            <a:solidFill>
              <a:srgbClr val="515854"/>
            </a:solidFill>
            <a:prstDash val="solid"/>
          </a:ln>
        </p:spPr>
      </p:sp>
      <p:pic>
        <p:nvPicPr>
          <p:cNvPr id="8" name="Image 2" descr="/Users/heikikun/Documents/skills/ppt-design-polish/examples/launch-studio/assets/icons/sun-moon-f7f7f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335584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09360" y="3300984"/>
            <a:ext cx="505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F7F7F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自适应调光</a:t>
            </a:r>
            <a:endParaRPr lang="zh-CN" sz="2200" dirty="0"/>
          </a:p>
        </p:txBody>
      </p:sp>
      <p:sp>
        <p:nvSpPr>
          <p:cNvPr id="10" name="Text 5"/>
          <p:cNvSpPr/>
          <p:nvPr/>
        </p:nvSpPr>
        <p:spPr>
          <a:xfrm>
            <a:off x="6309360" y="3785616"/>
            <a:ext cx="5056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CFD4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根据当前任务调节光线，不预设所有场景都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CFD4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需要更亮。</a:t>
            </a:r>
            <a:endParaRPr lang="zh-CN" sz="1800" dirty="0"/>
          </a:p>
        </p:txBody>
      </p:sp>
      <p:sp>
        <p:nvSpPr>
          <p:cNvPr id="11" name="Shape 6"/>
          <p:cNvSpPr/>
          <p:nvPr/>
        </p:nvSpPr>
        <p:spPr>
          <a:xfrm>
            <a:off x="6309360" y="4581144"/>
            <a:ext cx="5056632" cy="0"/>
          </a:xfrm>
          <a:prstGeom prst="line">
            <a:avLst/>
          </a:prstGeom>
          <a:noFill/>
          <a:ln w="7620">
            <a:solidFill>
              <a:srgbClr val="515854"/>
            </a:solidFill>
            <a:prstDash val="solid"/>
          </a:ln>
        </p:spPr>
      </p:sp>
      <p:pic>
        <p:nvPicPr>
          <p:cNvPr id="12" name="Image 3" descr="/Users/heikikun/Documents/skills/ppt-design-polish/examples/launch-studio/assets/icons/sliders-horizontal-f7f7f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475488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09360" y="4700016"/>
            <a:ext cx="505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F7F7F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手动控制</a:t>
            </a:r>
            <a:endParaRPr lang="zh-CN" sz="2200" dirty="0"/>
          </a:p>
        </p:txBody>
      </p:sp>
      <p:sp>
        <p:nvSpPr>
          <p:cNvPr id="14" name="Text 8"/>
          <p:cNvSpPr/>
          <p:nvPr/>
        </p:nvSpPr>
        <p:spPr>
          <a:xfrm>
            <a:off x="6309360" y="5184648"/>
            <a:ext cx="5056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CFD4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保留用户的调节选择，允许随时接管。</a:t>
            </a:r>
            <a:endParaRPr lang="zh-CN" sz="1800" dirty="0"/>
          </a:p>
        </p:txBody>
      </p:sp>
      <p:sp>
        <p:nvSpPr>
          <p:cNvPr id="15" name="Shape 9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202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51585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CFD4C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zh-CN" sz="900" dirty="0"/>
          </a:p>
        </p:txBody>
      </p:sp>
      <p:sp>
        <p:nvSpPr>
          <p:cNvPr id="18" name="Text 1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CFD4C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1088136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阅读是最多见的桌面任务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239572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68"/>
              </a:lnSpc>
              <a:buNone/>
            </a:pPr>
            <a:r>
              <a:rPr lang="zh-CN" altLang="en-US" sz="78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45%</a:t>
            </a:r>
            <a:endParaRPr lang="zh-CN" sz="7800" dirty="0"/>
          </a:p>
        </p:txBody>
      </p:sp>
      <p:sp>
        <p:nvSpPr>
          <p:cNvPr id="4" name="Text 2"/>
          <p:cNvSpPr/>
          <p:nvPr/>
        </p:nvSpPr>
        <p:spPr>
          <a:xfrm>
            <a:off x="731520" y="373075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阅读任务占比</a:t>
            </a:r>
            <a:endParaRPr lang="zh-CN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636008"/>
            <a:ext cx="31089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920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虚构任务调查：100份单选回答。</a:t>
            </a:r>
            <a:endParaRPr lang="zh-CN" sz="1700" dirty="0"/>
          </a:p>
        </p:txBody>
      </p:sp>
      <p:sp>
        <p:nvSpPr>
          <p:cNvPr id="7" name="Shape 5"/>
          <p:cNvSpPr/>
          <p:nvPr/>
        </p:nvSpPr>
        <p:spPr>
          <a:xfrm>
            <a:off x="4544568" y="2377440"/>
            <a:ext cx="0" cy="329184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4864608" y="2377440"/>
          <a:ext cx="6711696" cy="34107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zh-CN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33272"/>
            <a:ext cx="3401568" cy="1141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一半使用时长</a:t>
            </a:r>
            <a:endParaRPr lang="zh-CN" sz="3400" dirty="0"/>
          </a:p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发生在家庭书桌</a:t>
            </a:r>
            <a:endParaRPr lang="zh-CN" sz="3400" dirty="0"/>
          </a:p>
        </p:txBody>
      </p:sp>
      <p:sp>
        <p:nvSpPr>
          <p:cNvPr id="3" name="Shape 1"/>
          <p:cNvSpPr/>
          <p:nvPr/>
        </p:nvSpPr>
        <p:spPr>
          <a:xfrm>
            <a:off x="694944" y="3419856"/>
            <a:ext cx="621792" cy="0"/>
          </a:xfrm>
          <a:prstGeom prst="line">
            <a:avLst/>
          </a:prstGeom>
          <a:noFill/>
          <a:ln w="7620">
            <a:solidFill>
              <a:srgbClr val="B07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3685032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60"/>
              </a:lnSpc>
              <a:buNone/>
            </a:pPr>
            <a:r>
              <a:rPr lang="zh-CN" altLang="en-US" sz="20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示例使用时长</a:t>
            </a:r>
            <a:endParaRPr lang="zh-CN" sz="2000" dirty="0"/>
          </a:p>
        </p:txBody>
      </p:sp>
      <p:sp>
        <p:nvSpPr>
          <p:cNvPr id="5" name="Text 3"/>
          <p:cNvSpPr/>
          <p:nvPr/>
        </p:nvSpPr>
        <p:spPr>
          <a:xfrm>
            <a:off x="694944" y="4572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分母为全部示例使用时长，不</a:t>
            </a:r>
            <a:endParaRPr lang="zh-CN" sz="1700" dirty="0"/>
          </a:p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是用户人数。</a:t>
            </a:r>
            <a:endParaRPr lang="zh-CN" sz="1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023360" y="1325880"/>
          <a:ext cx="4160520" cy="4453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681728" y="28986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40"/>
              </a:lnSpc>
              <a:buNone/>
            </a:pPr>
            <a:r>
              <a:rPr lang="zh-CN" altLang="en-US" sz="40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50%</a:t>
            </a:r>
            <a:endParaRPr lang="zh-CN" sz="4000" dirty="0"/>
          </a:p>
        </p:txBody>
      </p:sp>
      <p:sp>
        <p:nvSpPr>
          <p:cNvPr id="8" name="Shape 5"/>
          <p:cNvSpPr/>
          <p:nvPr/>
        </p:nvSpPr>
        <p:spPr>
          <a:xfrm>
            <a:off x="8558784" y="2048256"/>
            <a:ext cx="82296" cy="265176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0" y="19659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家庭书桌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8823960" y="23774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zh-CN" altLang="en-US" sz="30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50%</a:t>
            </a:r>
            <a:endParaRPr lang="zh-CN" sz="3000" dirty="0"/>
          </a:p>
        </p:txBody>
      </p:sp>
      <p:sp>
        <p:nvSpPr>
          <p:cNvPr id="11" name="Shape 8"/>
          <p:cNvSpPr/>
          <p:nvPr/>
        </p:nvSpPr>
        <p:spPr>
          <a:xfrm>
            <a:off x="8823960" y="2953512"/>
            <a:ext cx="269748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58784" y="3172968"/>
            <a:ext cx="82296" cy="265176"/>
          </a:xfrm>
          <a:prstGeom prst="rect">
            <a:avLst/>
          </a:prstGeom>
          <a:solidFill>
            <a:srgbClr val="414B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30906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共享工作位</a:t>
            </a:r>
            <a:endParaRPr lang="zh-CN" sz="1800" dirty="0"/>
          </a:p>
        </p:txBody>
      </p:sp>
      <p:sp>
        <p:nvSpPr>
          <p:cNvPr id="14" name="Text 11"/>
          <p:cNvSpPr/>
          <p:nvPr/>
        </p:nvSpPr>
        <p:spPr>
          <a:xfrm>
            <a:off x="8823960" y="350215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zh-CN" altLang="en-US" sz="30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30%</a:t>
            </a:r>
            <a:endParaRPr lang="zh-CN" sz="3000" dirty="0"/>
          </a:p>
        </p:txBody>
      </p:sp>
      <p:sp>
        <p:nvSpPr>
          <p:cNvPr id="15" name="Shape 12"/>
          <p:cNvSpPr/>
          <p:nvPr/>
        </p:nvSpPr>
        <p:spPr>
          <a:xfrm>
            <a:off x="8823960" y="4078224"/>
            <a:ext cx="269748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58784" y="4297680"/>
            <a:ext cx="82296" cy="265176"/>
          </a:xfrm>
          <a:prstGeom prst="rect">
            <a:avLst/>
          </a:prstGeom>
          <a:solidFill>
            <a:srgbClr val="7D89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23960" y="42153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临时阅读角</a:t>
            </a:r>
            <a:endParaRPr lang="zh-CN" sz="1800" dirty="0"/>
          </a:p>
        </p:txBody>
      </p:sp>
      <p:sp>
        <p:nvSpPr>
          <p:cNvPr id="18" name="Text 15"/>
          <p:cNvSpPr/>
          <p:nvPr/>
        </p:nvSpPr>
        <p:spPr>
          <a:xfrm>
            <a:off x="8823960" y="4626864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zh-CN" altLang="en-US" sz="30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</a:t>
            </a:r>
            <a:endParaRPr lang="zh-CN" sz="3000" dirty="0"/>
          </a:p>
        </p:txBody>
      </p:sp>
      <p:sp>
        <p:nvSpPr>
          <p:cNvPr id="19" name="Shape 16"/>
          <p:cNvSpPr/>
          <p:nvPr/>
        </p:nvSpPr>
        <p:spPr>
          <a:xfrm>
            <a:off x="8823960" y="5202936"/>
            <a:ext cx="269748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zh-CN" sz="900" dirty="0"/>
          </a:p>
        </p:txBody>
      </p:sp>
      <p:sp>
        <p:nvSpPr>
          <p:cNvPr id="22" name="Text 19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813816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试用人数的逐月累计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9372600" y="7132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194"/>
              </a:lnSpc>
              <a:buNone/>
            </a:pPr>
            <a:r>
              <a:rPr lang="zh-CN" altLang="en-US" sz="49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64</a:t>
            </a:r>
            <a:endParaRPr lang="zh-CN" sz="4900" dirty="0"/>
          </a:p>
        </p:txBody>
      </p:sp>
      <p:sp>
        <p:nvSpPr>
          <p:cNvPr id="4" name="Text 2"/>
          <p:cNvSpPr/>
          <p:nvPr/>
        </p:nvSpPr>
        <p:spPr>
          <a:xfrm>
            <a:off x="8549640" y="16276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6月 / 试用人数</a:t>
            </a:r>
            <a:endParaRPr lang="zh-CN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3504" y="2240280"/>
          <a:ext cx="10954512" cy="3401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94944" y="58704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zh-CN" altLang="en-US" sz="15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虚构试用样本，不代表市场规模或增长预测。</a:t>
            </a:r>
            <a:endParaRPr lang="zh-CN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zh-CN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1088136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同一操作脚本中的动作次数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521968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测试条件相同；动作更少不等同于已验证的效率改善。</a:t>
            </a:r>
            <a:endParaRPr lang="zh-CN" sz="1700" dirty="0"/>
          </a:p>
        </p:txBody>
      </p:sp>
      <p:sp>
        <p:nvSpPr>
          <p:cNvPr id="4" name="Shape 2"/>
          <p:cNvSpPr/>
          <p:nvPr/>
        </p:nvSpPr>
        <p:spPr>
          <a:xfrm>
            <a:off x="2788920" y="2514600"/>
            <a:ext cx="128016" cy="128016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54096" y="2386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原方案</a:t>
            </a:r>
            <a:endParaRPr lang="zh-CN" sz="1700" dirty="0"/>
          </a:p>
        </p:txBody>
      </p:sp>
      <p:sp>
        <p:nvSpPr>
          <p:cNvPr id="6" name="Shape 4"/>
          <p:cNvSpPr/>
          <p:nvPr/>
        </p:nvSpPr>
        <p:spPr>
          <a:xfrm>
            <a:off x="6629400" y="2514600"/>
            <a:ext cx="128016" cy="128016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4576" y="2386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概念方案</a:t>
            </a:r>
            <a:endParaRPr lang="zh-CN" sz="1700" dirty="0"/>
          </a:p>
        </p:txBody>
      </p:sp>
      <p:sp>
        <p:nvSpPr>
          <p:cNvPr id="8" name="Shape 6"/>
          <p:cNvSpPr/>
          <p:nvPr/>
        </p:nvSpPr>
        <p:spPr>
          <a:xfrm>
            <a:off x="2834640" y="3017520"/>
            <a:ext cx="811072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zh-CN" sz="1000" dirty="0"/>
          </a:p>
        </p:txBody>
      </p:sp>
      <p:sp>
        <p:nvSpPr>
          <p:cNvPr id="10" name="Text 8"/>
          <p:cNvSpPr/>
          <p:nvPr/>
        </p:nvSpPr>
        <p:spPr>
          <a:xfrm>
            <a:off x="4606290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</a:t>
            </a:r>
            <a:endParaRPr lang="zh-CN" sz="1000" dirty="0"/>
          </a:p>
        </p:txBody>
      </p:sp>
      <p:sp>
        <p:nvSpPr>
          <p:cNvPr id="11" name="Text 9"/>
          <p:cNvSpPr/>
          <p:nvPr/>
        </p:nvSpPr>
        <p:spPr>
          <a:xfrm>
            <a:off x="6633972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zh-CN" sz="1000" dirty="0"/>
          </a:p>
        </p:txBody>
      </p:sp>
      <p:sp>
        <p:nvSpPr>
          <p:cNvPr id="12" name="Text 10"/>
          <p:cNvSpPr/>
          <p:nvPr/>
        </p:nvSpPr>
        <p:spPr>
          <a:xfrm>
            <a:off x="8661654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zh-CN" sz="1000" dirty="0"/>
          </a:p>
        </p:txBody>
      </p:sp>
      <p:sp>
        <p:nvSpPr>
          <p:cNvPr id="13" name="Text 11"/>
          <p:cNvSpPr/>
          <p:nvPr/>
        </p:nvSpPr>
        <p:spPr>
          <a:xfrm>
            <a:off x="10689336" y="278892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0"/>
              </a:lnSpc>
              <a:buNone/>
            </a:pPr>
            <a:r>
              <a:rPr lang="zh-CN" altLang="en-US" sz="10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</a:t>
            </a:r>
            <a:endParaRPr lang="zh-CN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255264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调亮</a:t>
            </a:r>
            <a:endParaRPr lang="zh-CN" sz="1900" dirty="0"/>
          </a:p>
        </p:txBody>
      </p:sp>
      <p:sp>
        <p:nvSpPr>
          <p:cNvPr id="15" name="Shape 13"/>
          <p:cNvSpPr/>
          <p:nvPr/>
        </p:nvSpPr>
        <p:spPr>
          <a:xfrm flipH="1">
            <a:off x="4862322" y="3429000"/>
            <a:ext cx="4055364" cy="0"/>
          </a:xfrm>
          <a:prstGeom prst="line">
            <a:avLst/>
          </a:prstGeom>
          <a:noFill/>
          <a:ln w="25400">
            <a:solidFill>
              <a:srgbClr val="CEC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49106" y="3360420"/>
            <a:ext cx="137160" cy="137160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6310" y="3332988"/>
            <a:ext cx="192024" cy="192024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15350" y="3072384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zh-CN" altLang="en-US" sz="14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4459986" y="356616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zh-CN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078224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恢复</a:t>
            </a:r>
            <a:endParaRPr lang="zh-CN" sz="1900" dirty="0"/>
          </a:p>
        </p:txBody>
      </p:sp>
      <p:sp>
        <p:nvSpPr>
          <p:cNvPr id="21" name="Shape 19"/>
          <p:cNvSpPr/>
          <p:nvPr/>
        </p:nvSpPr>
        <p:spPr>
          <a:xfrm flipH="1">
            <a:off x="4862322" y="4251960"/>
            <a:ext cx="3041523" cy="0"/>
          </a:xfrm>
          <a:prstGeom prst="line">
            <a:avLst/>
          </a:prstGeom>
          <a:noFill/>
          <a:ln w="25400">
            <a:solidFill>
              <a:srgbClr val="CECE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35265" y="4183380"/>
            <a:ext cx="137160" cy="137160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6310" y="4155948"/>
            <a:ext cx="192024" cy="192024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1509" y="3895344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zh-CN" altLang="en-US" sz="14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</a:t>
            </a:r>
            <a:endParaRPr lang="zh-CN" sz="1400" dirty="0"/>
          </a:p>
        </p:txBody>
      </p:sp>
      <p:sp>
        <p:nvSpPr>
          <p:cNvPr id="25" name="Text 23"/>
          <p:cNvSpPr/>
          <p:nvPr/>
        </p:nvSpPr>
        <p:spPr>
          <a:xfrm>
            <a:off x="4459986" y="43891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zh-CN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4901184"/>
            <a:ext cx="1938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记忆</a:t>
            </a:r>
            <a:endParaRPr lang="zh-CN" sz="1900" dirty="0"/>
          </a:p>
        </p:txBody>
      </p:sp>
      <p:sp>
        <p:nvSpPr>
          <p:cNvPr id="27" name="Shape 25"/>
          <p:cNvSpPr/>
          <p:nvPr/>
        </p:nvSpPr>
        <p:spPr>
          <a:xfrm flipH="1">
            <a:off x="3848481" y="5074920"/>
            <a:ext cx="3041523" cy="0"/>
          </a:xfrm>
          <a:prstGeom prst="line">
            <a:avLst/>
          </a:prstGeom>
          <a:noFill/>
          <a:ln w="25400">
            <a:solidFill>
              <a:srgbClr val="CECE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21424" y="5006340"/>
            <a:ext cx="137160" cy="137160"/>
          </a:xfrm>
          <a:prstGeom prst="ellipse">
            <a:avLst/>
          </a:prstGeom>
          <a:solidFill>
            <a:srgbClr val="5B5F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52469" y="4978908"/>
            <a:ext cx="192024" cy="192024"/>
          </a:xfrm>
          <a:prstGeom prst="ellipse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7668" y="4718304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2"/>
              </a:lnSpc>
              <a:buNone/>
            </a:pPr>
            <a:r>
              <a:rPr lang="zh-CN" altLang="en-US" sz="14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zh-CN" sz="1400" dirty="0"/>
          </a:p>
        </p:txBody>
      </p:sp>
      <p:sp>
        <p:nvSpPr>
          <p:cNvPr id="31" name="Text 29"/>
          <p:cNvSpPr/>
          <p:nvPr/>
        </p:nvSpPr>
        <p:spPr>
          <a:xfrm>
            <a:off x="3446145" y="521208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zh-CN" sz="1600" dirty="0"/>
          </a:p>
        </p:txBody>
      </p:sp>
      <p:sp>
        <p:nvSpPr>
          <p:cNvPr id="32" name="Text 30"/>
          <p:cNvSpPr/>
          <p:nvPr/>
        </p:nvSpPr>
        <p:spPr>
          <a:xfrm>
            <a:off x="11439144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zh-CN" altLang="en-US" sz="12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次</a:t>
            </a:r>
            <a:endParaRPr lang="zh-CN" sz="1200" dirty="0"/>
          </a:p>
        </p:txBody>
      </p:sp>
      <p:sp>
        <p:nvSpPr>
          <p:cNvPr id="33" name="Shape 31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zh-CN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1088136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假设工况下的能耗核算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521968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这是假设工况的收支核算，不是真实节能测试。</a:t>
            </a:r>
            <a:endParaRPr lang="zh-CN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5532120"/>
            <a:ext cx="10634472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578608"/>
            <a:ext cx="960120" cy="2953512"/>
          </a:xfrm>
          <a:prstGeom prst="rect">
            <a:avLst/>
          </a:prstGeom>
          <a:solidFill>
            <a:srgbClr val="202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4884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100</a:t>
            </a:r>
            <a:endParaRPr lang="zh-CN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基准</a:t>
            </a:r>
            <a:endParaRPr lang="zh-CN" sz="1600" dirty="0"/>
          </a:p>
        </p:txBody>
      </p:sp>
      <p:sp>
        <p:nvSpPr>
          <p:cNvPr id="8" name="Shape 6"/>
          <p:cNvSpPr/>
          <p:nvPr/>
        </p:nvSpPr>
        <p:spPr>
          <a:xfrm>
            <a:off x="1984248" y="2578608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2578608"/>
            <a:ext cx="960120" cy="354421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214884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-12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2761488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自适应</a:t>
            </a:r>
            <a:endParaRPr lang="zh-CN" sz="1600" dirty="0"/>
          </a:p>
        </p:txBody>
      </p:sp>
      <p:sp>
        <p:nvSpPr>
          <p:cNvPr id="12" name="Shape 10"/>
          <p:cNvSpPr/>
          <p:nvPr/>
        </p:nvSpPr>
        <p:spPr>
          <a:xfrm>
            <a:off x="4014216" y="2933029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4" y="2933029"/>
            <a:ext cx="960120" cy="236281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503261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-8</a:t>
            </a:r>
            <a:endParaRPr lang="zh-CN" sz="2200" dirty="0"/>
          </a:p>
        </p:txBody>
      </p:sp>
      <p:sp>
        <p:nvSpPr>
          <p:cNvPr id="15" name="Text 13"/>
          <p:cNvSpPr/>
          <p:nvPr/>
        </p:nvSpPr>
        <p:spPr>
          <a:xfrm>
            <a:off x="4791456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待机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6044184" y="3169310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3021635"/>
            <a:ext cx="960120" cy="147676"/>
          </a:xfrm>
          <a:prstGeom prst="rect">
            <a:avLst/>
          </a:prstGeom>
          <a:solidFill>
            <a:srgbClr val="B077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67728" y="2591867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+5</a:t>
            </a:r>
            <a:endParaRPr lang="zh-CN" sz="2200" dirty="0"/>
          </a:p>
        </p:txBody>
      </p:sp>
      <p:sp>
        <p:nvSpPr>
          <p:cNvPr id="19" name="Text 17"/>
          <p:cNvSpPr/>
          <p:nvPr/>
        </p:nvSpPr>
        <p:spPr>
          <a:xfrm>
            <a:off x="6821424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增亮</a:t>
            </a:r>
            <a:endParaRPr lang="zh-CN" sz="1600" dirty="0"/>
          </a:p>
        </p:txBody>
      </p:sp>
      <p:sp>
        <p:nvSpPr>
          <p:cNvPr id="20" name="Shape 18"/>
          <p:cNvSpPr/>
          <p:nvPr/>
        </p:nvSpPr>
        <p:spPr>
          <a:xfrm>
            <a:off x="8074152" y="3021635"/>
            <a:ext cx="1069848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3021635"/>
            <a:ext cx="960120" cy="2510485"/>
          </a:xfrm>
          <a:prstGeom prst="rect">
            <a:avLst/>
          </a:prstGeom>
          <a:solidFill>
            <a:srgbClr val="20262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7696" y="2591867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16"/>
              </a:lnSpc>
              <a:buNone/>
            </a:pPr>
            <a:r>
              <a:rPr lang="zh-CN" altLang="en-US" sz="2200" dirty="0">
                <a:solidFill>
                  <a:srgbClr val="202623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85</a:t>
            </a:r>
            <a:endParaRPr lang="zh-CN" sz="2200" dirty="0"/>
          </a:p>
        </p:txBody>
      </p:sp>
      <p:sp>
        <p:nvSpPr>
          <p:cNvPr id="23" name="Text 21"/>
          <p:cNvSpPr/>
          <p:nvPr/>
        </p:nvSpPr>
        <p:spPr>
          <a:xfrm>
            <a:off x="8851392" y="5650992"/>
            <a:ext cx="15453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方案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10908792" y="57881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64"/>
              </a:lnSpc>
              <a:buNone/>
            </a:pPr>
            <a:r>
              <a:rPr lang="zh-CN" altLang="en-US" sz="13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Wh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zh-CN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1088136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一次调光的功能逻辑</a:t>
            </a:r>
            <a:endParaRPr lang="zh-CN" sz="3400" dirty="0"/>
          </a:p>
        </p:txBody>
      </p:sp>
      <p:sp>
        <p:nvSpPr>
          <p:cNvPr id="3" name="Text 1"/>
          <p:cNvSpPr/>
          <p:nvPr/>
        </p:nvSpPr>
        <p:spPr>
          <a:xfrm>
            <a:off x="694944" y="2423160"/>
            <a:ext cx="230657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20"/>
              </a:lnSpc>
              <a:buNone/>
            </a:pPr>
            <a:r>
              <a:rPr lang="zh-CN" altLang="en-US" sz="7000" dirty="0">
                <a:solidFill>
                  <a:srgbClr val="CECE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zh-CN" sz="7000" dirty="0"/>
          </a:p>
        </p:txBody>
      </p:sp>
      <p:pic>
        <p:nvPicPr>
          <p:cNvPr id="4" name="Image 0" descr="/Users/heikikun/Documents/skills/ppt-design-polish/examples/launch-studio/assets/icons/radio-202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8404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" y="4489704"/>
            <a:ext cx="2306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zh-CN" altLang="en-US" sz="24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感知</a:t>
            </a:r>
            <a:endParaRPr lang="zh-CN" sz="2400" dirty="0"/>
          </a:p>
        </p:txBody>
      </p:sp>
      <p:sp>
        <p:nvSpPr>
          <p:cNvPr id="6" name="Text 3"/>
          <p:cNvSpPr/>
          <p:nvPr/>
        </p:nvSpPr>
        <p:spPr>
          <a:xfrm>
            <a:off x="694944" y="5175504"/>
            <a:ext cx="2306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采集环境光</a:t>
            </a:r>
            <a:endParaRPr lang="zh-CN" sz="1700" dirty="0"/>
          </a:p>
        </p:txBody>
      </p:sp>
      <p:sp>
        <p:nvSpPr>
          <p:cNvPr id="7" name="Shape 4"/>
          <p:cNvSpPr/>
          <p:nvPr/>
        </p:nvSpPr>
        <p:spPr>
          <a:xfrm>
            <a:off x="694944" y="3648456"/>
            <a:ext cx="2580894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403854" y="2423160"/>
            <a:ext cx="230657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20"/>
              </a:lnSpc>
              <a:buNone/>
            </a:pPr>
            <a:r>
              <a:rPr lang="zh-CN" altLang="en-US" sz="7000" dirty="0">
                <a:solidFill>
                  <a:srgbClr val="CECE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zh-CN" sz="7000" dirty="0"/>
          </a:p>
        </p:txBody>
      </p:sp>
      <p:pic>
        <p:nvPicPr>
          <p:cNvPr id="9" name="Image 1" descr="/Users/heikikun/Documents/skills/ppt-design-polish/examples/launch-studio/assets/icons/chart-no-axes-combined-202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854" y="38404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03854" y="4489704"/>
            <a:ext cx="2306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zh-CN" altLang="en-US" sz="24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评估</a:t>
            </a:r>
            <a:endParaRPr lang="zh-CN" sz="2400" dirty="0"/>
          </a:p>
        </p:txBody>
      </p:sp>
      <p:sp>
        <p:nvSpPr>
          <p:cNvPr id="11" name="Text 7"/>
          <p:cNvSpPr/>
          <p:nvPr/>
        </p:nvSpPr>
        <p:spPr>
          <a:xfrm>
            <a:off x="3403854" y="5175504"/>
            <a:ext cx="2306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结合当前任务</a:t>
            </a:r>
            <a:endParaRPr lang="zh-CN" sz="1700" dirty="0"/>
          </a:p>
        </p:txBody>
      </p:sp>
      <p:sp>
        <p:nvSpPr>
          <p:cNvPr id="12" name="Shape 8"/>
          <p:cNvSpPr/>
          <p:nvPr/>
        </p:nvSpPr>
        <p:spPr>
          <a:xfrm>
            <a:off x="3403854" y="3648456"/>
            <a:ext cx="2580894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6112764" y="2423160"/>
            <a:ext cx="230657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20"/>
              </a:lnSpc>
              <a:buNone/>
            </a:pPr>
            <a:r>
              <a:rPr lang="zh-CN" altLang="en-US" sz="7000" dirty="0">
                <a:solidFill>
                  <a:srgbClr val="CECE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zh-CN" sz="7000" dirty="0"/>
          </a:p>
        </p:txBody>
      </p:sp>
      <p:pic>
        <p:nvPicPr>
          <p:cNvPr id="14" name="Image 2" descr="/Users/heikikun/Documents/skills/ppt-design-polish/examples/launch-studio/assets/icons/sliders-horizontal-202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764" y="38404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12764" y="4489704"/>
            <a:ext cx="2306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zh-CN" altLang="en-US" sz="24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调节</a:t>
            </a:r>
            <a:endParaRPr lang="zh-CN" sz="2400" dirty="0"/>
          </a:p>
        </p:txBody>
      </p:sp>
      <p:sp>
        <p:nvSpPr>
          <p:cNvPr id="16" name="Text 11"/>
          <p:cNvSpPr/>
          <p:nvPr/>
        </p:nvSpPr>
        <p:spPr>
          <a:xfrm>
            <a:off x="6112764" y="5175504"/>
            <a:ext cx="2306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改变灯光输出</a:t>
            </a:r>
            <a:endParaRPr lang="zh-CN" sz="1700" dirty="0"/>
          </a:p>
        </p:txBody>
      </p:sp>
      <p:sp>
        <p:nvSpPr>
          <p:cNvPr id="17" name="Shape 12"/>
          <p:cNvSpPr/>
          <p:nvPr/>
        </p:nvSpPr>
        <p:spPr>
          <a:xfrm>
            <a:off x="6112764" y="3648456"/>
            <a:ext cx="2580894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18" name="Text 13"/>
          <p:cNvSpPr/>
          <p:nvPr/>
        </p:nvSpPr>
        <p:spPr>
          <a:xfrm>
            <a:off x="8821674" y="2423160"/>
            <a:ext cx="230657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20"/>
              </a:lnSpc>
              <a:buNone/>
            </a:pPr>
            <a:r>
              <a:rPr lang="zh-CN" altLang="en-US" sz="7000" dirty="0">
                <a:solidFill>
                  <a:srgbClr val="CECEC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zh-CN" sz="7000" dirty="0"/>
          </a:p>
        </p:txBody>
      </p:sp>
      <p:pic>
        <p:nvPicPr>
          <p:cNvPr id="19" name="Image 3" descr="/Users/heikikun/Documents/skills/ppt-design-polish/examples/launch-studio/assets/icons/check-check-202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1674" y="38404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21674" y="4489704"/>
            <a:ext cx="2306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zh-CN" altLang="en-US" sz="2400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</a:t>
            </a:r>
            <a:endParaRPr lang="zh-CN" sz="2400" dirty="0"/>
          </a:p>
        </p:txBody>
      </p:sp>
      <p:sp>
        <p:nvSpPr>
          <p:cNvPr id="21" name="Text 15"/>
          <p:cNvSpPr/>
          <p:nvPr/>
        </p:nvSpPr>
        <p:spPr>
          <a:xfrm>
            <a:off x="8821674" y="5175504"/>
            <a:ext cx="23065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接受手动接管</a:t>
            </a:r>
            <a:endParaRPr lang="zh-CN" sz="1700" dirty="0"/>
          </a:p>
        </p:txBody>
      </p:sp>
      <p:sp>
        <p:nvSpPr>
          <p:cNvPr id="22" name="Shape 16"/>
          <p:cNvSpPr/>
          <p:nvPr/>
        </p:nvSpPr>
        <p:spPr>
          <a:xfrm>
            <a:off x="8821674" y="3648456"/>
            <a:ext cx="2580894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94944" y="597103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2"/>
              </a:lnSpc>
              <a:buNone/>
            </a:pPr>
            <a:r>
              <a:rPr lang="zh-CN" altLang="en-US" sz="14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这是功能逻辑，不是已经验证的电路设计。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zh-CN" sz="900" dirty="0"/>
          </a:p>
        </p:txBody>
      </p:sp>
      <p:sp>
        <p:nvSpPr>
          <p:cNvPr id="26" name="Text 20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749808"/>
            <a:ext cx="10881360" cy="58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4"/>
              </a:lnSpc>
              <a:buNone/>
            </a:pPr>
            <a:r>
              <a:rPr lang="zh-CN" altLang="en-US" sz="3400" dirty="0">
                <a:solidFill>
                  <a:srgbClr val="202623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系统结构</a:t>
            </a:r>
            <a:endParaRPr lang="zh-CN" sz="3400" dirty="0"/>
          </a:p>
        </p:txBody>
      </p:sp>
      <p:sp>
        <p:nvSpPr>
          <p:cNvPr id="3" name="Shape 1"/>
          <p:cNvSpPr/>
          <p:nvPr/>
        </p:nvSpPr>
        <p:spPr>
          <a:xfrm>
            <a:off x="6080760" y="3168904"/>
            <a:ext cx="0" cy="442976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2514600" y="3611880"/>
            <a:ext cx="3566160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3611880"/>
            <a:ext cx="0" cy="146304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3168904"/>
            <a:ext cx="0" cy="442976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080760" y="3611880"/>
            <a:ext cx="0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3611880"/>
            <a:ext cx="0" cy="146304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80760" y="3168904"/>
            <a:ext cx="0" cy="442976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3611880"/>
            <a:ext cx="3566160" cy="0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3611880"/>
            <a:ext cx="0" cy="146304"/>
          </a:xfrm>
          <a:prstGeom prst="line">
            <a:avLst/>
          </a:prstGeom>
          <a:noFill/>
          <a:ln w="12700">
            <a:solidFill>
              <a:srgbClr val="CECEC9"/>
            </a:solidFill>
            <a:prstDash val="solid"/>
            <a:tailEnd type="triangle"/>
          </a:ln>
        </p:spPr>
      </p:sp>
      <p:pic>
        <p:nvPicPr>
          <p:cNvPr id="12" name="Image 0" descr="/Users/heikikun/Documents/skills/ppt-design-polish/examples/launch-studio/assets/icons/lightbulb-202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057400"/>
            <a:ext cx="420624" cy="4206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86200" y="273405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弧光照明系统</a:t>
            </a:r>
            <a:endParaRPr lang="zh-CN" sz="2000" dirty="0"/>
          </a:p>
        </p:txBody>
      </p:sp>
      <p:pic>
        <p:nvPicPr>
          <p:cNvPr id="14" name="Image 1" descr="/Users/heikikun/Documents/skills/ppt-design-polish/examples/launch-studio/assets/icons/radio-2026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3840480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4400" y="4517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感知模块</a:t>
            </a:r>
            <a:endParaRPr lang="zh-CN" sz="2000" dirty="0"/>
          </a:p>
        </p:txBody>
      </p:sp>
      <p:sp>
        <p:nvSpPr>
          <p:cNvPr id="16" name="Text 12"/>
          <p:cNvSpPr/>
          <p:nvPr/>
        </p:nvSpPr>
        <p:spPr>
          <a:xfrm>
            <a:off x="914400" y="51663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接收环境光输入</a:t>
            </a:r>
            <a:endParaRPr lang="zh-CN" sz="1700" dirty="0"/>
          </a:p>
        </p:txBody>
      </p:sp>
      <p:pic>
        <p:nvPicPr>
          <p:cNvPr id="17" name="Image 2" descr="/Users/heikikun/Documents/skills/ppt-design-polish/examples/launch-studio/assets/icons/sliders-horizontal-2026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84048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80560" y="4517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控制模块</a:t>
            </a:r>
            <a:endParaRPr lang="zh-CN" sz="2000" dirty="0"/>
          </a:p>
        </p:txBody>
      </p:sp>
      <p:sp>
        <p:nvSpPr>
          <p:cNvPr id="19" name="Text 14"/>
          <p:cNvSpPr/>
          <p:nvPr/>
        </p:nvSpPr>
        <p:spPr>
          <a:xfrm>
            <a:off x="4480560" y="51663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结合自动与手动选择</a:t>
            </a:r>
            <a:endParaRPr lang="zh-CN" sz="1700" dirty="0"/>
          </a:p>
        </p:txBody>
      </p:sp>
      <p:pic>
        <p:nvPicPr>
          <p:cNvPr id="20" name="Image 3" descr="/Users/heikikun/Documents/skills/ppt-design-polish/examples/launch-studio/assets/icons/lightbulb-2026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840480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46720" y="45171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zh-CN" altLang="en-US" sz="2000" b="1" dirty="0">
                <a:solidFill>
                  <a:srgbClr val="20262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照明模块</a:t>
            </a:r>
            <a:endParaRPr lang="zh-CN" sz="2000" dirty="0"/>
          </a:p>
        </p:txBody>
      </p:sp>
      <p:sp>
        <p:nvSpPr>
          <p:cNvPr id="22" name="Text 16"/>
          <p:cNvSpPr/>
          <p:nvPr/>
        </p:nvSpPr>
        <p:spPr>
          <a:xfrm>
            <a:off x="8046720" y="51663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6"/>
              </a:lnSpc>
              <a:buNone/>
            </a:pPr>
            <a:r>
              <a:rPr lang="zh-CN" altLang="en-US" sz="17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输出光线</a:t>
            </a:r>
            <a:endParaRPr lang="zh-CN" sz="1700" dirty="0"/>
          </a:p>
        </p:txBody>
      </p:sp>
      <p:sp>
        <p:nvSpPr>
          <p:cNvPr id="23" name="Text 17"/>
          <p:cNvSpPr/>
          <p:nvPr/>
        </p:nvSpPr>
        <p:spPr>
          <a:xfrm>
            <a:off x="685800" y="58978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尚未确定售价、上市时间或真实量产参数。</a:t>
            </a:r>
            <a:endParaRPr lang="zh-CN" sz="1600" dirty="0"/>
          </a:p>
        </p:txBody>
      </p:sp>
      <p:sp>
        <p:nvSpPr>
          <p:cNvPr id="24" name="Shape 18"/>
          <p:cNvSpPr/>
          <p:nvPr/>
        </p:nvSpPr>
        <p:spPr>
          <a:xfrm>
            <a:off x="658368" y="6245352"/>
            <a:ext cx="10881360" cy="0"/>
          </a:xfrm>
          <a:prstGeom prst="line">
            <a:avLst/>
          </a:prstGeom>
          <a:noFill/>
          <a:ln w="7620">
            <a:solidFill>
              <a:srgbClr val="CECEC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zh-CN" sz="900" dirty="0"/>
          </a:p>
        </p:txBody>
      </p:sp>
      <p:sp>
        <p:nvSpPr>
          <p:cNvPr id="26" name="Text 20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5B5F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全部产品、图片与数值均为虚构设计演示，不代表真实产品性能或调研结论。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弧光 / ARC — 自动视觉构成样例</dc:title>
  <dc:subject/>
  <dc:creator>PPT Design &amp; Polish</dc:creator>
  <cp:lastModifiedBy>PPT Design &amp; Polish</cp:lastModifiedBy>
  <cp:revision>1</cp:revision>
  <dcterms:created xsi:type="dcterms:W3CDTF">2026-10-22T21:47:42Z</dcterms:created>
  <dcterms:modified xsi:type="dcterms:W3CDTF">2026-10-22T21:47:42Z</dcterms:modified>
</cp:coreProperties>
</file>