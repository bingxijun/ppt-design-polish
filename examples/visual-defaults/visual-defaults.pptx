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任务</c:v>
                </c:pt>
              </c:strCache>
            </c:strRef>
          </c:tx>
          <c:spPr>
            <a:solidFill>
              <a:srgbClr val="B0772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700" u="none">
                    <a:solidFill>
                      <a:srgbClr val="20262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077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0262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02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0262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阅读</c:v>
                  </c:pt>
                  <c:pt idx="1">
                    <c:v>屏幕工作</c:v>
                  </c:pt>
                  <c:pt idx="2">
                    <c:v>手作</c:v>
                  </c:pt>
                  <c:pt idx="3">
                    <c:v>其他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700" u="none">
                  <a:solidFill>
                    <a:srgbClr val="20262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02623"/>
                </a:solidFill>
                <a:latin typeface="Hiragino Sans GB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F5C"/>
                </a:solidFill>
                <a:latin typeface="Hiragino Sans GB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使用时长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0772A"/>
              </a:solidFill>
              <a:effectLst/>
            </c:spPr>
          </c:dPt>
          <c:dPt>
            <c:idx val="1"/>
            <c:bubble3D val="0"/>
            <c:spPr>
              <a:solidFill>
                <a:srgbClr val="414B47"/>
              </a:solidFill>
              <a:effectLst/>
            </c:spPr>
          </c:dPt>
          <c:dPt>
            <c:idx val="2"/>
            <c:bubble3D val="0"/>
            <c:spPr>
              <a:solidFill>
                <a:srgbClr val="7D8982"/>
              </a:solidFill>
              <a:effectLst/>
            </c:spPr>
          </c:dPt>
          <c:dLbls>
            <c:dLbl>
              <c:idx val="0"/>
              <c:numFmt formatCode="0" sourceLinked="0"/>
              <c:spPr/>
              <c:txPr>
                <a:bodyPr/>
                <a:lstStyle/>
                <a:p>
                  <a:pPr>
                    <a:defRPr sz="1700" b="0" i="0" u="none" strike="noStrike">
                      <a:solidFill>
                        <a:srgbClr val="20262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0" sourceLinked="0"/>
              <c:spPr/>
              <c:txPr>
                <a:bodyPr/>
                <a:lstStyle/>
                <a:p>
                  <a:pPr>
                    <a:defRPr sz="1700" b="0" i="0" u="none" strike="noStrike">
                      <a:solidFill>
                        <a:srgbClr val="20262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0" sourceLinked="0"/>
              <c:spPr/>
              <c:txPr>
                <a:bodyPr/>
                <a:lstStyle/>
                <a:p>
                  <a:pPr>
                    <a:defRPr sz="1700" b="0" i="0" u="none" strike="noStrike">
                      <a:solidFill>
                        <a:srgbClr val="20262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家庭书桌</c:v>
                </c:pt>
                <c:pt idx="1">
                  <c:v>共享工作位</c:v>
                </c:pt>
                <c:pt idx="2">
                  <c:v>临时阅读角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firstSliceAng val="0"/>
        <c:holeSize val="7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试用人数</c:v>
                </c:pt>
              </c:strCache>
            </c:strRef>
          </c:tx>
          <c:spPr>
            <a:solidFill>
              <a:srgbClr val="202623"/>
            </a:solidFill>
            <a:ln w="31750" cap="flat">
              <a:solidFill>
                <a:srgbClr val="202623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700" u="none">
                    <a:solidFill>
                      <a:srgbClr val="20262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02623"/>
              </a:solidFill>
              <a:ln w="9525" cap="flat">
                <a:solidFill>
                  <a:srgbClr val="202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</c:v>
                </c:pt>
                <c:pt idx="1">
                  <c:v>20</c:v>
                </c:pt>
                <c:pt idx="2">
                  <c:v>28</c:v>
                </c:pt>
                <c:pt idx="3">
                  <c:v>39</c:v>
                </c:pt>
                <c:pt idx="4">
                  <c:v>50</c:v>
                </c:pt>
                <c:pt idx="5">
                  <c:v>64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700" u="none">
                  <a:solidFill>
                    <a:srgbClr val="202623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02623"/>
                </a:solidFill>
                <a:latin typeface="Hiragino Sans GB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F5C"/>
                </a:solidFill>
                <a:latin typeface="Hiragino Sans GB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eikikun/Documents/skills/ppt-design-polish/examples/visual-defaults/assets/hero.jpg">    </p:cNvPr>
          <p:cNvPicPr>
            <a:picLocks noChangeAspect="1"/>
          </p:cNvPicPr>
          <p:nvPr/>
        </p:nvPicPr>
        <p:blipFill>
          <a:blip r:embed="rId1"/>
          <a:srcRect l="0" r="0" t="27" b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4944" y="1399032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572"/>
              </a:lnSpc>
              <a:buNone/>
            </a:pPr>
            <a:r>
              <a:rPr lang="zh-CN" altLang="en-US" sz="62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弧光</a:t>
            </a:r>
            <a:endParaRPr lang="zh-CN" sz="6200" dirty="0"/>
          </a:p>
        </p:txBody>
      </p:sp>
      <p:sp>
        <p:nvSpPr>
          <p:cNvPr id="4" name="Text 1"/>
          <p:cNvSpPr/>
          <p:nvPr/>
        </p:nvSpPr>
        <p:spPr>
          <a:xfrm>
            <a:off x="731520" y="3218688"/>
            <a:ext cx="5148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80"/>
              </a:lnSpc>
              <a:buNone/>
            </a:pPr>
            <a:r>
              <a:rPr lang="zh-CN" altLang="en-US" sz="30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自适应桌面照明</a:t>
            </a:r>
            <a:endParaRPr lang="zh-CN" sz="3000" dirty="0"/>
          </a:p>
        </p:txBody>
      </p:sp>
      <p:sp>
        <p:nvSpPr>
          <p:cNvPr id="5" name="Text 2"/>
          <p:cNvSpPr/>
          <p:nvPr/>
        </p:nvSpPr>
        <p:spPr>
          <a:xfrm>
            <a:off x="731520" y="501091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概念提案 / PRODUCT CONCEPT</a:t>
            </a:r>
            <a:endParaRPr lang="zh-CN" sz="1800" dirty="0"/>
          </a:p>
        </p:txBody>
      </p:sp>
      <p:sp>
        <p:nvSpPr>
          <p:cNvPr id="6" name="Text 3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zh-CN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全部产品、图片与数值均为虚构设计演示，不代表真实产品性能或调研结论。</a:t>
            </a:r>
            <a:endParaRPr lang="zh-CN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58952"/>
            <a:ext cx="6309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4"/>
              </a:lnSpc>
              <a:buNone/>
            </a:pPr>
            <a:r>
              <a:rPr lang="zh-CN" altLang="en-US" sz="34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随环境调光，保留手动选择</a:t>
            </a:r>
            <a:endParaRPr lang="zh-CN" sz="3400" dirty="0"/>
          </a:p>
        </p:txBody>
      </p:sp>
      <p:pic>
        <p:nvPicPr>
          <p:cNvPr id="3" name="Image 0" descr="/Users/heikikun/Documents/skills/ppt-design-polish/examples/visual-defaults/assets/detail.jpg">    </p:cNvPr>
          <p:cNvPicPr>
            <a:picLocks noChangeAspect="1"/>
          </p:cNvPicPr>
          <p:nvPr/>
        </p:nvPicPr>
        <p:blipFill>
          <a:blip r:embed="rId1"/>
          <a:srcRect l="3743" r="3743" t="0" b="0"/>
          <a:stretch/>
        </p:blipFill>
        <p:spPr>
          <a:xfrm>
            <a:off x="7516368" y="685800"/>
            <a:ext cx="4041648" cy="5458968"/>
          </a:xfrm>
          <a:prstGeom prst="rect">
            <a:avLst/>
          </a:prstGeom>
        </p:spPr>
      </p:pic>
      <p:pic>
        <p:nvPicPr>
          <p:cNvPr id="4" name="Image 1" descr="/Users/heikikun/Documents/skills/ppt-design-polish/examples/visual-defaults/assets/icons/radio-2026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377440"/>
            <a:ext cx="356616" cy="35661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07592" y="2331720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44"/>
              </a:lnSpc>
              <a:buNone/>
            </a:pPr>
            <a:r>
              <a:rPr lang="zh-CN" altLang="en-US" sz="23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环境感知</a:t>
            </a:r>
            <a:endParaRPr lang="zh-CN" sz="2300" dirty="0"/>
          </a:p>
        </p:txBody>
      </p:sp>
      <p:sp>
        <p:nvSpPr>
          <p:cNvPr id="6" name="Text 2"/>
          <p:cNvSpPr/>
          <p:nvPr/>
        </p:nvSpPr>
        <p:spPr>
          <a:xfrm>
            <a:off x="1307592" y="2862072"/>
            <a:ext cx="5577840" cy="336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zh-CN" altLang="en-US" sz="19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采集桌面环境光，作为调光输入。</a:t>
            </a:r>
            <a:endParaRPr lang="zh-CN" sz="1900" dirty="0"/>
          </a:p>
        </p:txBody>
      </p:sp>
      <p:pic>
        <p:nvPicPr>
          <p:cNvPr id="7" name="Image 2" descr="/Users/heikikun/Documents/skills/ppt-design-polish/examples/visual-defaults/assets/icons/sun-moon-20262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591560"/>
            <a:ext cx="356616" cy="35661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07592" y="3545840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44"/>
              </a:lnSpc>
              <a:buNone/>
            </a:pPr>
            <a:r>
              <a:rPr lang="zh-CN" altLang="en-US" sz="23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自适应调光</a:t>
            </a:r>
            <a:endParaRPr lang="zh-CN" sz="2300" dirty="0"/>
          </a:p>
        </p:txBody>
      </p:sp>
      <p:sp>
        <p:nvSpPr>
          <p:cNvPr id="9" name="Text 4"/>
          <p:cNvSpPr/>
          <p:nvPr/>
        </p:nvSpPr>
        <p:spPr>
          <a:xfrm>
            <a:off x="1307592" y="4076192"/>
            <a:ext cx="5577840" cy="645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zh-CN" altLang="en-US" sz="19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根据当前任务调节光线，不预设所有场景</a:t>
            </a:r>
            <a:endParaRPr lang="zh-CN" sz="1900" dirty="0"/>
          </a:p>
          <a:p>
            <a:pPr indent="0" marL="0">
              <a:lnSpc>
                <a:spcPts val="2432"/>
              </a:lnSpc>
              <a:buNone/>
            </a:pPr>
            <a:r>
              <a:rPr lang="zh-CN" altLang="en-US" sz="19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都需要更亮。</a:t>
            </a:r>
            <a:endParaRPr lang="zh-CN" sz="1900" dirty="0"/>
          </a:p>
        </p:txBody>
      </p:sp>
      <p:pic>
        <p:nvPicPr>
          <p:cNvPr id="10" name="Image 3" descr="/Users/heikikun/Documents/skills/ppt-design-polish/examples/visual-defaults/assets/icons/sliders-horizontal-20262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5114544"/>
            <a:ext cx="356616" cy="35661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07592" y="5068824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44"/>
              </a:lnSpc>
              <a:buNone/>
            </a:pPr>
            <a:r>
              <a:rPr lang="zh-CN" altLang="en-US" sz="23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手动控制</a:t>
            </a:r>
            <a:endParaRPr lang="zh-CN" sz="2300" dirty="0"/>
          </a:p>
        </p:txBody>
      </p:sp>
      <p:sp>
        <p:nvSpPr>
          <p:cNvPr id="12" name="Text 6"/>
          <p:cNvSpPr/>
          <p:nvPr/>
        </p:nvSpPr>
        <p:spPr>
          <a:xfrm>
            <a:off x="1307592" y="5599176"/>
            <a:ext cx="5577840" cy="336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zh-CN" altLang="en-US" sz="19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保留用户的调节选择，允许随时接管。</a:t>
            </a:r>
            <a:endParaRPr lang="zh-CN" sz="1900" dirty="0"/>
          </a:p>
        </p:txBody>
      </p:sp>
      <p:sp>
        <p:nvSpPr>
          <p:cNvPr id="13" name="Text 7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zh-CN" sz="900" dirty="0"/>
          </a:p>
        </p:txBody>
      </p:sp>
      <p:sp>
        <p:nvSpPr>
          <p:cNvPr id="14" name="Text 8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全部产品、图片与数值均为虚构设计演示，不代表真实产品性能或调研结论。</a:t>
            </a:r>
            <a:endParaRPr lang="zh-CN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58952"/>
            <a:ext cx="10881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4"/>
              </a:lnSpc>
              <a:buNone/>
            </a:pPr>
            <a:r>
              <a:rPr lang="zh-CN" altLang="en-US" sz="34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阅读是最多见的桌面任务</a:t>
            </a:r>
            <a:endParaRPr lang="zh-CN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66928" y="2267712"/>
          <a:ext cx="77724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8796528" y="2423160"/>
            <a:ext cx="2587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724"/>
              </a:lnSpc>
              <a:buNone/>
            </a:pPr>
            <a:r>
              <a:rPr lang="zh-CN" altLang="en-US" sz="5400" dirty="0">
                <a:solidFill>
                  <a:srgbClr val="20262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45%</a:t>
            </a:r>
            <a:endParaRPr lang="zh-CN" sz="5400" dirty="0"/>
          </a:p>
        </p:txBody>
      </p:sp>
      <p:sp>
        <p:nvSpPr>
          <p:cNvPr id="5" name="Text 2"/>
          <p:cNvSpPr/>
          <p:nvPr/>
        </p:nvSpPr>
        <p:spPr>
          <a:xfrm>
            <a:off x="8796528" y="3538728"/>
            <a:ext cx="2587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88"/>
              </a:lnSpc>
              <a:buNone/>
            </a:pPr>
            <a:r>
              <a:rPr lang="zh-CN" altLang="en-US" sz="21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阅读任务占比</a:t>
            </a:r>
            <a:endParaRPr lang="zh-CN" sz="2100" dirty="0"/>
          </a:p>
        </p:txBody>
      </p:sp>
      <p:sp>
        <p:nvSpPr>
          <p:cNvPr id="6" name="Text 3"/>
          <p:cNvSpPr/>
          <p:nvPr/>
        </p:nvSpPr>
        <p:spPr>
          <a:xfrm>
            <a:off x="8796528" y="4617720"/>
            <a:ext cx="25877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虚构任务调查：100份</a:t>
            </a:r>
            <a:endParaRPr lang="zh-CN" sz="1800" dirty="0"/>
          </a:p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单选回答。</a:t>
            </a:r>
            <a:endParaRPr lang="zh-CN" sz="1800" dirty="0"/>
          </a:p>
        </p:txBody>
      </p:sp>
      <p:sp>
        <p:nvSpPr>
          <p:cNvPr id="7" name="Text 4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zh-CN" sz="900" dirty="0"/>
          </a:p>
        </p:txBody>
      </p:sp>
      <p:sp>
        <p:nvSpPr>
          <p:cNvPr id="8" name="Text 5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全部产品、图片与数值均为虚构设计演示，不代表真实产品性能或调研结论。</a:t>
            </a:r>
            <a:endParaRPr lang="zh-CN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58952"/>
            <a:ext cx="10881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4"/>
              </a:lnSpc>
              <a:buNone/>
            </a:pPr>
            <a:r>
              <a:rPr lang="zh-CN" altLang="en-US" sz="34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一半使用时长发生在家庭书桌</a:t>
            </a:r>
            <a:endParaRPr lang="zh-CN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2084832"/>
          <a:ext cx="571500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2039112" y="350215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40"/>
              </a:lnSpc>
              <a:buNone/>
            </a:pPr>
            <a:r>
              <a:rPr lang="zh-CN" altLang="en-US" sz="4000" dirty="0">
                <a:solidFill>
                  <a:srgbClr val="20262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50%</a:t>
            </a:r>
            <a:endParaRPr lang="zh-CN" sz="4000" dirty="0"/>
          </a:p>
        </p:txBody>
      </p:sp>
      <p:sp>
        <p:nvSpPr>
          <p:cNvPr id="5" name="Text 2"/>
          <p:cNvSpPr/>
          <p:nvPr/>
        </p:nvSpPr>
        <p:spPr>
          <a:xfrm>
            <a:off x="2057400" y="41879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8"/>
              </a:lnSpc>
              <a:buNone/>
            </a:pPr>
            <a:r>
              <a:rPr lang="zh-CN" altLang="en-US" sz="16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家庭书桌</a:t>
            </a:r>
            <a:endParaRPr lang="zh-CN" sz="1600" dirty="0"/>
          </a:p>
        </p:txBody>
      </p:sp>
      <p:sp>
        <p:nvSpPr>
          <p:cNvPr id="6" name="Shape 3"/>
          <p:cNvSpPr/>
          <p:nvPr/>
        </p:nvSpPr>
        <p:spPr>
          <a:xfrm>
            <a:off x="6793992" y="2487168"/>
            <a:ext cx="109728" cy="347472"/>
          </a:xfrm>
          <a:prstGeom prst="rect">
            <a:avLst/>
          </a:prstGeom>
          <a:solidFill>
            <a:srgbClr val="B077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0" y="237744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88"/>
              </a:lnSpc>
              <a:buNone/>
            </a:pPr>
            <a:r>
              <a:rPr lang="zh-CN" altLang="en-US" sz="21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家庭书桌</a:t>
            </a:r>
            <a:endParaRPr lang="zh-CN" sz="2100" dirty="0"/>
          </a:p>
        </p:txBody>
      </p:sp>
      <p:sp>
        <p:nvSpPr>
          <p:cNvPr id="8" name="Text 5"/>
          <p:cNvSpPr/>
          <p:nvPr/>
        </p:nvSpPr>
        <p:spPr>
          <a:xfrm>
            <a:off x="10058400" y="23774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200"/>
              </a:lnSpc>
              <a:buNone/>
            </a:pPr>
            <a:r>
              <a:rPr lang="zh-CN" altLang="en-US" sz="2500" dirty="0">
                <a:solidFill>
                  <a:srgbClr val="20262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50%</a:t>
            </a:r>
            <a:endParaRPr lang="zh-CN" sz="2500" dirty="0"/>
          </a:p>
        </p:txBody>
      </p:sp>
      <p:sp>
        <p:nvSpPr>
          <p:cNvPr id="9" name="Shape 6"/>
          <p:cNvSpPr/>
          <p:nvPr/>
        </p:nvSpPr>
        <p:spPr>
          <a:xfrm>
            <a:off x="6793992" y="3264408"/>
            <a:ext cx="109728" cy="347472"/>
          </a:xfrm>
          <a:prstGeom prst="rect">
            <a:avLst/>
          </a:prstGeom>
          <a:solidFill>
            <a:srgbClr val="414B4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0" y="315468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88"/>
              </a:lnSpc>
              <a:buNone/>
            </a:pPr>
            <a:r>
              <a:rPr lang="zh-CN" altLang="en-US" sz="21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共享工作位</a:t>
            </a:r>
            <a:endParaRPr lang="zh-CN" sz="2100" dirty="0"/>
          </a:p>
        </p:txBody>
      </p:sp>
      <p:sp>
        <p:nvSpPr>
          <p:cNvPr id="11" name="Text 8"/>
          <p:cNvSpPr/>
          <p:nvPr/>
        </p:nvSpPr>
        <p:spPr>
          <a:xfrm>
            <a:off x="10058400" y="31546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200"/>
              </a:lnSpc>
              <a:buNone/>
            </a:pPr>
            <a:r>
              <a:rPr lang="zh-CN" altLang="en-US" sz="2500" dirty="0">
                <a:solidFill>
                  <a:srgbClr val="20262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30%</a:t>
            </a:r>
            <a:endParaRPr lang="zh-CN" sz="2500" dirty="0"/>
          </a:p>
        </p:txBody>
      </p:sp>
      <p:sp>
        <p:nvSpPr>
          <p:cNvPr id="12" name="Shape 9"/>
          <p:cNvSpPr/>
          <p:nvPr/>
        </p:nvSpPr>
        <p:spPr>
          <a:xfrm>
            <a:off x="6793992" y="4041648"/>
            <a:ext cx="109728" cy="347472"/>
          </a:xfrm>
          <a:prstGeom prst="rect">
            <a:avLst/>
          </a:prstGeom>
          <a:solidFill>
            <a:srgbClr val="7D89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0" y="393192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88"/>
              </a:lnSpc>
              <a:buNone/>
            </a:pPr>
            <a:r>
              <a:rPr lang="zh-CN" altLang="en-US" sz="21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临时阅读角</a:t>
            </a:r>
            <a:endParaRPr lang="zh-CN" sz="2100" dirty="0"/>
          </a:p>
        </p:txBody>
      </p:sp>
      <p:sp>
        <p:nvSpPr>
          <p:cNvPr id="14" name="Text 11"/>
          <p:cNvSpPr/>
          <p:nvPr/>
        </p:nvSpPr>
        <p:spPr>
          <a:xfrm>
            <a:off x="10058400" y="39319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200"/>
              </a:lnSpc>
              <a:buNone/>
            </a:pPr>
            <a:r>
              <a:rPr lang="zh-CN" altLang="en-US" sz="2500" dirty="0">
                <a:solidFill>
                  <a:srgbClr val="20262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</a:t>
            </a:r>
            <a:endParaRPr lang="zh-CN" sz="2500" dirty="0"/>
          </a:p>
        </p:txBody>
      </p:sp>
      <p:sp>
        <p:nvSpPr>
          <p:cNvPr id="15" name="Text 12"/>
          <p:cNvSpPr/>
          <p:nvPr/>
        </p:nvSpPr>
        <p:spPr>
          <a:xfrm>
            <a:off x="685800" y="580644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8"/>
              </a:lnSpc>
              <a:buNone/>
            </a:pPr>
            <a:r>
              <a:rPr lang="zh-CN" altLang="en-US" sz="16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分母为全部示例使用时长，不是用户人数。</a:t>
            </a:r>
            <a:endParaRPr lang="zh-CN" sz="1600" dirty="0"/>
          </a:p>
        </p:txBody>
      </p:sp>
      <p:sp>
        <p:nvSpPr>
          <p:cNvPr id="16" name="Text 13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zh-CN" sz="900" dirty="0"/>
          </a:p>
        </p:txBody>
      </p:sp>
      <p:sp>
        <p:nvSpPr>
          <p:cNvPr id="17" name="Text 14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全部产品、图片与数值均为虚构设计演示，不代表真实产品性能或调研结论。</a:t>
            </a:r>
            <a:endParaRPr lang="zh-CN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58952"/>
            <a:ext cx="10881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4"/>
              </a:lnSpc>
              <a:buNone/>
            </a:pPr>
            <a:r>
              <a:rPr lang="zh-CN" altLang="en-US" sz="34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试用人数的逐月累计</a:t>
            </a:r>
            <a:endParaRPr lang="zh-CN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66928" y="2267712"/>
          <a:ext cx="109728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85800" y="580644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8"/>
              </a:lnSpc>
              <a:buNone/>
            </a:pPr>
            <a:r>
              <a:rPr lang="zh-CN" altLang="en-US" sz="16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虚构试用样本，不代表市场规模或增长预测。</a:t>
            </a:r>
            <a:endParaRPr lang="zh-CN" sz="1600" dirty="0"/>
          </a:p>
        </p:txBody>
      </p:sp>
      <p:sp>
        <p:nvSpPr>
          <p:cNvPr id="5" name="Text 2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zh-CN" sz="900" dirty="0"/>
          </a:p>
        </p:txBody>
      </p:sp>
      <p:sp>
        <p:nvSpPr>
          <p:cNvPr id="6" name="Text 3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全部产品、图片与数值均为虚构设计演示，不代表真实产品性能或调研结论。</a:t>
            </a:r>
            <a:endParaRPr lang="zh-CN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58952"/>
            <a:ext cx="10881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4"/>
              </a:lnSpc>
              <a:buNone/>
            </a:pPr>
            <a:r>
              <a:rPr lang="zh-CN" altLang="en-US" sz="34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同一操作脚本中的动作次数</a:t>
            </a:r>
            <a:endParaRPr lang="zh-CN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81051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测试条件相同；动作更少不等同于已验证的效率改善。</a:t>
            </a:r>
            <a:endParaRPr lang="zh-CN" sz="1800" dirty="0"/>
          </a:p>
        </p:txBody>
      </p:sp>
      <p:sp>
        <p:nvSpPr>
          <p:cNvPr id="4" name="Shape 2"/>
          <p:cNvSpPr/>
          <p:nvPr/>
        </p:nvSpPr>
        <p:spPr>
          <a:xfrm>
            <a:off x="2788920" y="2514600"/>
            <a:ext cx="128016" cy="128016"/>
          </a:xfrm>
          <a:prstGeom prst="ellipse">
            <a:avLst/>
          </a:prstGeom>
          <a:solidFill>
            <a:srgbClr val="5B5F5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54096" y="238658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6"/>
              </a:lnSpc>
              <a:buNone/>
            </a:pPr>
            <a:r>
              <a:rPr lang="zh-CN" altLang="en-US" sz="17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原方案</a:t>
            </a:r>
            <a:endParaRPr lang="zh-CN" sz="1700" dirty="0"/>
          </a:p>
        </p:txBody>
      </p:sp>
      <p:sp>
        <p:nvSpPr>
          <p:cNvPr id="6" name="Shape 4"/>
          <p:cNvSpPr/>
          <p:nvPr/>
        </p:nvSpPr>
        <p:spPr>
          <a:xfrm>
            <a:off x="6629400" y="2514600"/>
            <a:ext cx="128016" cy="128016"/>
          </a:xfrm>
          <a:prstGeom prst="ellipse">
            <a:avLst/>
          </a:prstGeom>
          <a:solidFill>
            <a:srgbClr val="B077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94576" y="238658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6"/>
              </a:lnSpc>
              <a:buNone/>
            </a:pPr>
            <a:r>
              <a:rPr lang="zh-CN" altLang="en-US" sz="17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概念方案</a:t>
            </a:r>
            <a:endParaRPr lang="zh-CN" sz="1700" dirty="0"/>
          </a:p>
        </p:txBody>
      </p:sp>
      <p:sp>
        <p:nvSpPr>
          <p:cNvPr id="8" name="Shape 6"/>
          <p:cNvSpPr/>
          <p:nvPr/>
        </p:nvSpPr>
        <p:spPr>
          <a:xfrm>
            <a:off x="2834640" y="3017520"/>
            <a:ext cx="8110728" cy="0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78608" y="278892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80"/>
              </a:lnSpc>
              <a:buNone/>
            </a:pPr>
            <a:r>
              <a:rPr lang="zh-CN" altLang="en-US" sz="1000" dirty="0">
                <a:solidFill>
                  <a:srgbClr val="5B5F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</a:t>
            </a:r>
            <a:endParaRPr lang="zh-CN" sz="1000" dirty="0"/>
          </a:p>
        </p:txBody>
      </p:sp>
      <p:sp>
        <p:nvSpPr>
          <p:cNvPr id="10" name="Text 8"/>
          <p:cNvSpPr/>
          <p:nvPr/>
        </p:nvSpPr>
        <p:spPr>
          <a:xfrm>
            <a:off x="4606290" y="278892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80"/>
              </a:lnSpc>
              <a:buNone/>
            </a:pPr>
            <a:r>
              <a:rPr lang="zh-CN" altLang="en-US" sz="1000" dirty="0">
                <a:solidFill>
                  <a:srgbClr val="5B5F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</a:t>
            </a:r>
            <a:endParaRPr lang="zh-CN" sz="1000" dirty="0"/>
          </a:p>
        </p:txBody>
      </p:sp>
      <p:sp>
        <p:nvSpPr>
          <p:cNvPr id="11" name="Text 9"/>
          <p:cNvSpPr/>
          <p:nvPr/>
        </p:nvSpPr>
        <p:spPr>
          <a:xfrm>
            <a:off x="6633972" y="278892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80"/>
              </a:lnSpc>
              <a:buNone/>
            </a:pPr>
            <a:r>
              <a:rPr lang="zh-CN" altLang="en-US" sz="1000" dirty="0">
                <a:solidFill>
                  <a:srgbClr val="5B5F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zh-CN" sz="1000" dirty="0"/>
          </a:p>
        </p:txBody>
      </p:sp>
      <p:sp>
        <p:nvSpPr>
          <p:cNvPr id="12" name="Text 10"/>
          <p:cNvSpPr/>
          <p:nvPr/>
        </p:nvSpPr>
        <p:spPr>
          <a:xfrm>
            <a:off x="8661654" y="278892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80"/>
              </a:lnSpc>
              <a:buNone/>
            </a:pPr>
            <a:r>
              <a:rPr lang="zh-CN" altLang="en-US" sz="1000" dirty="0">
                <a:solidFill>
                  <a:srgbClr val="5B5F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</a:t>
            </a:r>
            <a:endParaRPr lang="zh-CN" sz="1000" dirty="0"/>
          </a:p>
        </p:txBody>
      </p:sp>
      <p:sp>
        <p:nvSpPr>
          <p:cNvPr id="13" name="Text 11"/>
          <p:cNvSpPr/>
          <p:nvPr/>
        </p:nvSpPr>
        <p:spPr>
          <a:xfrm>
            <a:off x="10689336" y="278892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80"/>
              </a:lnSpc>
              <a:buNone/>
            </a:pPr>
            <a:r>
              <a:rPr lang="zh-CN" altLang="en-US" sz="1000" dirty="0">
                <a:solidFill>
                  <a:srgbClr val="5B5F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8</a:t>
            </a:r>
            <a:endParaRPr lang="zh-CN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255264"/>
            <a:ext cx="19385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zh-CN" altLang="en-US" sz="19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调亮</a:t>
            </a:r>
            <a:endParaRPr lang="zh-CN" sz="1900" dirty="0"/>
          </a:p>
        </p:txBody>
      </p:sp>
      <p:sp>
        <p:nvSpPr>
          <p:cNvPr id="15" name="Shape 13"/>
          <p:cNvSpPr/>
          <p:nvPr/>
        </p:nvSpPr>
        <p:spPr>
          <a:xfrm flipH="1">
            <a:off x="4862322" y="3429000"/>
            <a:ext cx="4055364" cy="0"/>
          </a:xfrm>
          <a:prstGeom prst="line">
            <a:avLst/>
          </a:prstGeom>
          <a:noFill/>
          <a:ln w="25400">
            <a:solidFill>
              <a:srgbClr val="CECE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49106" y="3360420"/>
            <a:ext cx="137160" cy="137160"/>
          </a:xfrm>
          <a:prstGeom prst="ellipse">
            <a:avLst/>
          </a:prstGeom>
          <a:solidFill>
            <a:srgbClr val="5B5F5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66310" y="3332988"/>
            <a:ext cx="192024" cy="192024"/>
          </a:xfrm>
          <a:prstGeom prst="ellipse">
            <a:avLst/>
          </a:prstGeom>
          <a:solidFill>
            <a:srgbClr val="B077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15350" y="3072384"/>
            <a:ext cx="804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2"/>
              </a:lnSpc>
              <a:buNone/>
            </a:pPr>
            <a:r>
              <a:rPr lang="zh-CN" altLang="en-US" sz="14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6</a:t>
            </a:r>
            <a:endParaRPr lang="zh-CN" sz="1400" dirty="0"/>
          </a:p>
        </p:txBody>
      </p:sp>
      <p:sp>
        <p:nvSpPr>
          <p:cNvPr id="19" name="Text 17"/>
          <p:cNvSpPr/>
          <p:nvPr/>
        </p:nvSpPr>
        <p:spPr>
          <a:xfrm>
            <a:off x="4459986" y="356616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8"/>
              </a:lnSpc>
              <a:buNone/>
            </a:pPr>
            <a:r>
              <a:rPr lang="zh-CN" altLang="en-US" sz="16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zh-CN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4078224"/>
            <a:ext cx="19385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zh-CN" altLang="en-US" sz="19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恢复</a:t>
            </a:r>
            <a:endParaRPr lang="zh-CN" sz="1900" dirty="0"/>
          </a:p>
        </p:txBody>
      </p:sp>
      <p:sp>
        <p:nvSpPr>
          <p:cNvPr id="21" name="Shape 19"/>
          <p:cNvSpPr/>
          <p:nvPr/>
        </p:nvSpPr>
        <p:spPr>
          <a:xfrm flipH="1">
            <a:off x="4862322" y="4251960"/>
            <a:ext cx="3041523" cy="0"/>
          </a:xfrm>
          <a:prstGeom prst="line">
            <a:avLst/>
          </a:prstGeom>
          <a:noFill/>
          <a:ln w="25400">
            <a:solidFill>
              <a:srgbClr val="CECEC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35265" y="4183380"/>
            <a:ext cx="137160" cy="137160"/>
          </a:xfrm>
          <a:prstGeom prst="ellipse">
            <a:avLst/>
          </a:prstGeom>
          <a:solidFill>
            <a:srgbClr val="5B5F5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66310" y="4155948"/>
            <a:ext cx="192024" cy="192024"/>
          </a:xfrm>
          <a:prstGeom prst="ellipse">
            <a:avLst/>
          </a:prstGeom>
          <a:solidFill>
            <a:srgbClr val="B077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01509" y="3895344"/>
            <a:ext cx="804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2"/>
              </a:lnSpc>
              <a:buNone/>
            </a:pPr>
            <a:r>
              <a:rPr lang="zh-CN" altLang="en-US" sz="14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5</a:t>
            </a:r>
            <a:endParaRPr lang="zh-CN" sz="1400" dirty="0"/>
          </a:p>
        </p:txBody>
      </p:sp>
      <p:sp>
        <p:nvSpPr>
          <p:cNvPr id="25" name="Text 23"/>
          <p:cNvSpPr/>
          <p:nvPr/>
        </p:nvSpPr>
        <p:spPr>
          <a:xfrm>
            <a:off x="4459986" y="438912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8"/>
              </a:lnSpc>
              <a:buNone/>
            </a:pPr>
            <a:r>
              <a:rPr lang="zh-CN" altLang="en-US" sz="16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zh-CN" sz="1600" dirty="0"/>
          </a:p>
        </p:txBody>
      </p:sp>
      <p:sp>
        <p:nvSpPr>
          <p:cNvPr id="26" name="Text 24"/>
          <p:cNvSpPr/>
          <p:nvPr/>
        </p:nvSpPr>
        <p:spPr>
          <a:xfrm>
            <a:off x="685800" y="4901184"/>
            <a:ext cx="19385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zh-CN" altLang="en-US" sz="19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记忆</a:t>
            </a:r>
            <a:endParaRPr lang="zh-CN" sz="1900" dirty="0"/>
          </a:p>
        </p:txBody>
      </p:sp>
      <p:sp>
        <p:nvSpPr>
          <p:cNvPr id="27" name="Shape 25"/>
          <p:cNvSpPr/>
          <p:nvPr/>
        </p:nvSpPr>
        <p:spPr>
          <a:xfrm flipH="1">
            <a:off x="3848481" y="5074920"/>
            <a:ext cx="3041523" cy="0"/>
          </a:xfrm>
          <a:prstGeom prst="line">
            <a:avLst/>
          </a:prstGeom>
          <a:noFill/>
          <a:ln w="25400">
            <a:solidFill>
              <a:srgbClr val="CECEC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21424" y="5006340"/>
            <a:ext cx="137160" cy="137160"/>
          </a:xfrm>
          <a:prstGeom prst="ellipse">
            <a:avLst/>
          </a:prstGeom>
          <a:solidFill>
            <a:srgbClr val="5B5F5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52469" y="4978908"/>
            <a:ext cx="192024" cy="192024"/>
          </a:xfrm>
          <a:prstGeom prst="ellipse">
            <a:avLst/>
          </a:prstGeom>
          <a:solidFill>
            <a:srgbClr val="B077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87668" y="4718304"/>
            <a:ext cx="804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2"/>
              </a:lnSpc>
              <a:buNone/>
            </a:pPr>
            <a:r>
              <a:rPr lang="zh-CN" altLang="en-US" sz="14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endParaRPr lang="zh-CN" sz="1400" dirty="0"/>
          </a:p>
        </p:txBody>
      </p:sp>
      <p:sp>
        <p:nvSpPr>
          <p:cNvPr id="31" name="Text 29"/>
          <p:cNvSpPr/>
          <p:nvPr/>
        </p:nvSpPr>
        <p:spPr>
          <a:xfrm>
            <a:off x="3446145" y="521208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8"/>
              </a:lnSpc>
              <a:buNone/>
            </a:pPr>
            <a:r>
              <a:rPr lang="zh-CN" altLang="en-US" sz="16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zh-CN" sz="1600" dirty="0"/>
          </a:p>
        </p:txBody>
      </p:sp>
      <p:sp>
        <p:nvSpPr>
          <p:cNvPr id="32" name="Text 30"/>
          <p:cNvSpPr/>
          <p:nvPr/>
        </p:nvSpPr>
        <p:spPr>
          <a:xfrm>
            <a:off x="11439144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zh-CN" altLang="en-US" sz="12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次</a:t>
            </a:r>
            <a:endParaRPr lang="zh-CN" sz="1200" dirty="0"/>
          </a:p>
        </p:txBody>
      </p:sp>
      <p:sp>
        <p:nvSpPr>
          <p:cNvPr id="33" name="Text 3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06</a:t>
            </a:r>
            <a:endParaRPr lang="zh-CN" sz="900" dirty="0"/>
          </a:p>
        </p:txBody>
      </p:sp>
      <p:sp>
        <p:nvSpPr>
          <p:cNvPr id="34" name="Text 3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全部产品、图片与数值均为虚构设计演示，不代表真实产品性能或调研结论。</a:t>
            </a:r>
            <a:endParaRPr lang="zh-CN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58952"/>
            <a:ext cx="10881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4"/>
              </a:lnSpc>
              <a:buNone/>
            </a:pPr>
            <a:r>
              <a:rPr lang="zh-CN" altLang="en-US" sz="34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假设工况下的能耗核算</a:t>
            </a:r>
            <a:endParaRPr lang="zh-CN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81051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这是假设工况的收支核算，不是真实节能测试。</a:t>
            </a:r>
            <a:endParaRPr lang="zh-CN" sz="1800" dirty="0"/>
          </a:p>
        </p:txBody>
      </p:sp>
      <p:sp>
        <p:nvSpPr>
          <p:cNvPr id="4" name="Shape 2"/>
          <p:cNvSpPr/>
          <p:nvPr/>
        </p:nvSpPr>
        <p:spPr>
          <a:xfrm>
            <a:off x="777240" y="5532120"/>
            <a:ext cx="10634472" cy="0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2578608"/>
            <a:ext cx="960120" cy="2953512"/>
          </a:xfrm>
          <a:prstGeom prst="rect">
            <a:avLst/>
          </a:prstGeom>
          <a:solidFill>
            <a:srgbClr val="20262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148840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16"/>
              </a:lnSpc>
              <a:buNone/>
            </a:pPr>
            <a:r>
              <a:rPr lang="zh-CN" altLang="en-US" sz="2200" dirty="0">
                <a:solidFill>
                  <a:srgbClr val="20262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100</a:t>
            </a:r>
            <a:endParaRPr lang="zh-CN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5650992"/>
            <a:ext cx="15453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8"/>
              </a:lnSpc>
              <a:buNone/>
            </a:pPr>
            <a:r>
              <a:rPr lang="zh-CN" altLang="en-US" sz="16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基准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1984248" y="2578608"/>
            <a:ext cx="1069848" cy="0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54096" y="2578608"/>
            <a:ext cx="960120" cy="354421"/>
          </a:xfrm>
          <a:prstGeom prst="rect">
            <a:avLst/>
          </a:prstGeom>
          <a:solidFill>
            <a:srgbClr val="B077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07792" y="2148840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16"/>
              </a:lnSpc>
              <a:buNone/>
            </a:pPr>
            <a:r>
              <a:rPr lang="zh-CN" altLang="en-US" sz="2200" dirty="0">
                <a:solidFill>
                  <a:srgbClr val="20262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-12</a:t>
            </a:r>
            <a:endParaRPr lang="zh-CN" sz="2200" dirty="0"/>
          </a:p>
        </p:txBody>
      </p:sp>
      <p:sp>
        <p:nvSpPr>
          <p:cNvPr id="11" name="Text 9"/>
          <p:cNvSpPr/>
          <p:nvPr/>
        </p:nvSpPr>
        <p:spPr>
          <a:xfrm>
            <a:off x="2761488" y="5650992"/>
            <a:ext cx="15453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8"/>
              </a:lnSpc>
              <a:buNone/>
            </a:pPr>
            <a:r>
              <a:rPr lang="zh-CN" altLang="en-US" sz="16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自适应</a:t>
            </a:r>
            <a:endParaRPr lang="zh-CN" sz="1600" dirty="0"/>
          </a:p>
        </p:txBody>
      </p:sp>
      <p:sp>
        <p:nvSpPr>
          <p:cNvPr id="12" name="Shape 10"/>
          <p:cNvSpPr/>
          <p:nvPr/>
        </p:nvSpPr>
        <p:spPr>
          <a:xfrm>
            <a:off x="4014216" y="2933029"/>
            <a:ext cx="1069848" cy="0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4064" y="2933029"/>
            <a:ext cx="960120" cy="236281"/>
          </a:xfrm>
          <a:prstGeom prst="rect">
            <a:avLst/>
          </a:prstGeom>
          <a:solidFill>
            <a:srgbClr val="B077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503261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16"/>
              </a:lnSpc>
              <a:buNone/>
            </a:pPr>
            <a:r>
              <a:rPr lang="zh-CN" altLang="en-US" sz="2200" dirty="0">
                <a:solidFill>
                  <a:srgbClr val="20262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-8</a:t>
            </a:r>
            <a:endParaRPr lang="zh-CN" sz="2200" dirty="0"/>
          </a:p>
        </p:txBody>
      </p:sp>
      <p:sp>
        <p:nvSpPr>
          <p:cNvPr id="15" name="Text 13"/>
          <p:cNvSpPr/>
          <p:nvPr/>
        </p:nvSpPr>
        <p:spPr>
          <a:xfrm>
            <a:off x="4791456" y="5650992"/>
            <a:ext cx="15453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8"/>
              </a:lnSpc>
              <a:buNone/>
            </a:pPr>
            <a:r>
              <a:rPr lang="zh-CN" altLang="en-US" sz="16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待机</a:t>
            </a:r>
            <a:endParaRPr lang="zh-CN" sz="1600" dirty="0"/>
          </a:p>
        </p:txBody>
      </p:sp>
      <p:sp>
        <p:nvSpPr>
          <p:cNvPr id="16" name="Shape 14"/>
          <p:cNvSpPr/>
          <p:nvPr/>
        </p:nvSpPr>
        <p:spPr>
          <a:xfrm>
            <a:off x="6044184" y="3169310"/>
            <a:ext cx="1069848" cy="0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14032" y="3021635"/>
            <a:ext cx="960120" cy="147676"/>
          </a:xfrm>
          <a:prstGeom prst="rect">
            <a:avLst/>
          </a:prstGeom>
          <a:solidFill>
            <a:srgbClr val="B077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67728" y="2591867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16"/>
              </a:lnSpc>
              <a:buNone/>
            </a:pPr>
            <a:r>
              <a:rPr lang="zh-CN" altLang="en-US" sz="2200" dirty="0">
                <a:solidFill>
                  <a:srgbClr val="20262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+5</a:t>
            </a:r>
            <a:endParaRPr lang="zh-CN" sz="2200" dirty="0"/>
          </a:p>
        </p:txBody>
      </p:sp>
      <p:sp>
        <p:nvSpPr>
          <p:cNvPr id="19" name="Text 17"/>
          <p:cNvSpPr/>
          <p:nvPr/>
        </p:nvSpPr>
        <p:spPr>
          <a:xfrm>
            <a:off x="6821424" y="5650992"/>
            <a:ext cx="15453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8"/>
              </a:lnSpc>
              <a:buNone/>
            </a:pPr>
            <a:r>
              <a:rPr lang="zh-CN" altLang="en-US" sz="16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增亮</a:t>
            </a:r>
            <a:endParaRPr lang="zh-CN" sz="1600" dirty="0"/>
          </a:p>
        </p:txBody>
      </p:sp>
      <p:sp>
        <p:nvSpPr>
          <p:cNvPr id="20" name="Shape 18"/>
          <p:cNvSpPr/>
          <p:nvPr/>
        </p:nvSpPr>
        <p:spPr>
          <a:xfrm>
            <a:off x="8074152" y="3021635"/>
            <a:ext cx="1069848" cy="0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0" y="3021635"/>
            <a:ext cx="960120" cy="2510485"/>
          </a:xfrm>
          <a:prstGeom prst="rect">
            <a:avLst/>
          </a:prstGeom>
          <a:solidFill>
            <a:srgbClr val="20262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97696" y="2591867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16"/>
              </a:lnSpc>
              <a:buNone/>
            </a:pPr>
            <a:r>
              <a:rPr lang="zh-CN" altLang="en-US" sz="2200" dirty="0">
                <a:solidFill>
                  <a:srgbClr val="20262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85</a:t>
            </a:r>
            <a:endParaRPr lang="zh-CN" sz="2200" dirty="0"/>
          </a:p>
        </p:txBody>
      </p:sp>
      <p:sp>
        <p:nvSpPr>
          <p:cNvPr id="23" name="Text 21"/>
          <p:cNvSpPr/>
          <p:nvPr/>
        </p:nvSpPr>
        <p:spPr>
          <a:xfrm>
            <a:off x="8851392" y="5650992"/>
            <a:ext cx="15453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8"/>
              </a:lnSpc>
              <a:buNone/>
            </a:pPr>
            <a:r>
              <a:rPr lang="zh-CN" altLang="en-US" sz="16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方案</a:t>
            </a:r>
            <a:endParaRPr lang="zh-CN" sz="1600" dirty="0"/>
          </a:p>
        </p:txBody>
      </p:sp>
      <p:sp>
        <p:nvSpPr>
          <p:cNvPr id="24" name="Text 22"/>
          <p:cNvSpPr/>
          <p:nvPr/>
        </p:nvSpPr>
        <p:spPr>
          <a:xfrm>
            <a:off x="10908792" y="57881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64"/>
              </a:lnSpc>
              <a:buNone/>
            </a:pPr>
            <a:r>
              <a:rPr lang="zh-CN" altLang="en-US" sz="13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Wh</a:t>
            </a:r>
            <a:endParaRPr lang="zh-CN" sz="1300" dirty="0"/>
          </a:p>
        </p:txBody>
      </p:sp>
      <p:sp>
        <p:nvSpPr>
          <p:cNvPr id="25" name="Text 23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07</a:t>
            </a:r>
            <a:endParaRPr lang="zh-CN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全部产品、图片与数值均为虚构设计演示，不代表真实产品性能或调研结论。</a:t>
            </a:r>
            <a:endParaRPr lang="zh-CN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58952"/>
            <a:ext cx="10881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4"/>
              </a:lnSpc>
              <a:buNone/>
            </a:pPr>
            <a:r>
              <a:rPr lang="zh-CN" altLang="en-US" sz="34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一次调光的功能逻辑</a:t>
            </a:r>
            <a:endParaRPr lang="zh-CN" sz="3400" dirty="0"/>
          </a:p>
        </p:txBody>
      </p:sp>
      <p:sp>
        <p:nvSpPr>
          <p:cNvPr id="3" name="Shape 1"/>
          <p:cNvSpPr/>
          <p:nvPr/>
        </p:nvSpPr>
        <p:spPr>
          <a:xfrm>
            <a:off x="2334006" y="2953512"/>
            <a:ext cx="1869948" cy="0"/>
          </a:xfrm>
          <a:prstGeom prst="line">
            <a:avLst/>
          </a:prstGeom>
          <a:noFill/>
          <a:ln w="15240">
            <a:solidFill>
              <a:srgbClr val="CECEC9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5008626" y="2953512"/>
            <a:ext cx="1869948" cy="0"/>
          </a:xfrm>
          <a:prstGeom prst="line">
            <a:avLst/>
          </a:prstGeom>
          <a:noFill/>
          <a:ln w="15240">
            <a:solidFill>
              <a:srgbClr val="CECEC9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683246" y="2953512"/>
            <a:ext cx="1869948" cy="0"/>
          </a:xfrm>
          <a:prstGeom prst="line">
            <a:avLst/>
          </a:prstGeom>
          <a:noFill/>
          <a:ln w="15240">
            <a:solidFill>
              <a:srgbClr val="CECEC9"/>
            </a:solidFill>
            <a:prstDash val="solid"/>
            <a:tailEnd type="triangle"/>
          </a:ln>
        </p:spPr>
      </p:sp>
      <p:pic>
        <p:nvPicPr>
          <p:cNvPr id="6" name="Image 0" descr="/Users/heikikun/Documents/skills/ppt-design-polish/examples/visual-defaults/assets/icons/radio-2026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1358" y="2724912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401568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16"/>
              </a:lnSpc>
              <a:buNone/>
            </a:pPr>
            <a:r>
              <a:rPr lang="zh-CN" altLang="en-US" sz="22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感知</a:t>
            </a:r>
            <a:endParaRPr lang="zh-CN" sz="2200" dirty="0"/>
          </a:p>
        </p:txBody>
      </p:sp>
      <p:sp>
        <p:nvSpPr>
          <p:cNvPr id="8" name="Text 5"/>
          <p:cNvSpPr/>
          <p:nvPr/>
        </p:nvSpPr>
        <p:spPr>
          <a:xfrm>
            <a:off x="777240" y="4050792"/>
            <a:ext cx="23088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76"/>
              </a:lnSpc>
              <a:buNone/>
            </a:pPr>
            <a:r>
              <a:rPr lang="zh-CN" altLang="en-US" sz="17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采集环境光</a:t>
            </a:r>
            <a:endParaRPr lang="zh-CN" sz="1700" dirty="0"/>
          </a:p>
        </p:txBody>
      </p:sp>
      <p:pic>
        <p:nvPicPr>
          <p:cNvPr id="9" name="Image 1" descr="/Users/heikikun/Documents/skills/ppt-design-polish/examples/visual-defaults/assets/icons/chart-no-axes-combined-2026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978" y="2724912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51860" y="3401568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16"/>
              </a:lnSpc>
              <a:buNone/>
            </a:pPr>
            <a:r>
              <a:rPr lang="zh-CN" altLang="en-US" sz="22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评估</a:t>
            </a:r>
            <a:endParaRPr lang="zh-CN" sz="2200" dirty="0"/>
          </a:p>
        </p:txBody>
      </p:sp>
      <p:sp>
        <p:nvSpPr>
          <p:cNvPr id="11" name="Text 7"/>
          <p:cNvSpPr/>
          <p:nvPr/>
        </p:nvSpPr>
        <p:spPr>
          <a:xfrm>
            <a:off x="3451860" y="4050792"/>
            <a:ext cx="23088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76"/>
              </a:lnSpc>
              <a:buNone/>
            </a:pPr>
            <a:r>
              <a:rPr lang="zh-CN" altLang="en-US" sz="17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结合当前任务</a:t>
            </a:r>
            <a:endParaRPr lang="zh-CN" sz="1700" dirty="0"/>
          </a:p>
        </p:txBody>
      </p:sp>
      <p:pic>
        <p:nvPicPr>
          <p:cNvPr id="12" name="Image 2" descr="/Users/heikikun/Documents/skills/ppt-design-polish/examples/visual-defaults/assets/icons/sliders-horizontal-20262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598" y="2724912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26480" y="3401568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16"/>
              </a:lnSpc>
              <a:buNone/>
            </a:pPr>
            <a:r>
              <a:rPr lang="zh-CN" altLang="en-US" sz="22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调节</a:t>
            </a:r>
            <a:endParaRPr lang="zh-CN" sz="2200" dirty="0"/>
          </a:p>
        </p:txBody>
      </p:sp>
      <p:sp>
        <p:nvSpPr>
          <p:cNvPr id="14" name="Text 9"/>
          <p:cNvSpPr/>
          <p:nvPr/>
        </p:nvSpPr>
        <p:spPr>
          <a:xfrm>
            <a:off x="6126480" y="4050792"/>
            <a:ext cx="23088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76"/>
              </a:lnSpc>
              <a:buNone/>
            </a:pPr>
            <a:r>
              <a:rPr lang="zh-CN" altLang="en-US" sz="17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改变灯光输出</a:t>
            </a:r>
            <a:endParaRPr lang="zh-CN" sz="1700" dirty="0"/>
          </a:p>
        </p:txBody>
      </p:sp>
      <p:pic>
        <p:nvPicPr>
          <p:cNvPr id="15" name="Image 3" descr="/Users/heikikun/Documents/skills/ppt-design-polish/examples/visual-defaults/assets/icons/check-check-20262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5218" y="2724912"/>
            <a:ext cx="420624" cy="4206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801100" y="3401568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16"/>
              </a:lnSpc>
              <a:buNone/>
            </a:pPr>
            <a:r>
              <a:rPr lang="zh-CN" altLang="en-US" sz="22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确认</a:t>
            </a:r>
            <a:endParaRPr lang="zh-CN" sz="2200" dirty="0"/>
          </a:p>
        </p:txBody>
      </p:sp>
      <p:sp>
        <p:nvSpPr>
          <p:cNvPr id="17" name="Text 11"/>
          <p:cNvSpPr/>
          <p:nvPr/>
        </p:nvSpPr>
        <p:spPr>
          <a:xfrm>
            <a:off x="8801100" y="4050792"/>
            <a:ext cx="23088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76"/>
              </a:lnSpc>
              <a:buNone/>
            </a:pPr>
            <a:r>
              <a:rPr lang="zh-CN" altLang="en-US" sz="17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接受手动接管</a:t>
            </a:r>
            <a:endParaRPr lang="zh-CN" sz="1700" dirty="0"/>
          </a:p>
        </p:txBody>
      </p:sp>
      <p:sp>
        <p:nvSpPr>
          <p:cNvPr id="18" name="Text 12"/>
          <p:cNvSpPr/>
          <p:nvPr/>
        </p:nvSpPr>
        <p:spPr>
          <a:xfrm>
            <a:off x="685800" y="58978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8"/>
              </a:lnSpc>
              <a:buNone/>
            </a:pPr>
            <a:r>
              <a:rPr lang="zh-CN" altLang="en-US" sz="16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这是功能逻辑，不是已经验证的电路设计。</a:t>
            </a:r>
            <a:endParaRPr lang="zh-CN" sz="1600" dirty="0"/>
          </a:p>
        </p:txBody>
      </p:sp>
      <p:sp>
        <p:nvSpPr>
          <p:cNvPr id="19" name="Text 13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08</a:t>
            </a:r>
            <a:endParaRPr lang="zh-CN" sz="900" dirty="0"/>
          </a:p>
        </p:txBody>
      </p:sp>
      <p:sp>
        <p:nvSpPr>
          <p:cNvPr id="20" name="Text 14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全部产品、图片与数值均为虚构设计演示，不代表真实产品性能或调研结论。</a:t>
            </a:r>
            <a:endParaRPr lang="zh-CN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58952"/>
            <a:ext cx="10881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4"/>
              </a:lnSpc>
              <a:buNone/>
            </a:pPr>
            <a:r>
              <a:rPr lang="zh-CN" altLang="en-US" sz="34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系统结构</a:t>
            </a:r>
            <a:endParaRPr lang="zh-CN" sz="3400" dirty="0"/>
          </a:p>
        </p:txBody>
      </p:sp>
      <p:sp>
        <p:nvSpPr>
          <p:cNvPr id="3" name="Shape 1"/>
          <p:cNvSpPr/>
          <p:nvPr/>
        </p:nvSpPr>
        <p:spPr>
          <a:xfrm>
            <a:off x="6080760" y="3168904"/>
            <a:ext cx="0" cy="442976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2514600" y="3611880"/>
            <a:ext cx="3566160" cy="0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14600" y="3611880"/>
            <a:ext cx="0" cy="146304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080760" y="3168904"/>
            <a:ext cx="0" cy="442976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6080760" y="3611880"/>
            <a:ext cx="0" cy="0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0760" y="3611880"/>
            <a:ext cx="0" cy="146304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80760" y="3168904"/>
            <a:ext cx="0" cy="442976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3611880"/>
            <a:ext cx="3566160" cy="0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46920" y="3611880"/>
            <a:ext cx="0" cy="146304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  <a:tailEnd type="triangle"/>
          </a:ln>
        </p:spPr>
      </p:sp>
      <p:pic>
        <p:nvPicPr>
          <p:cNvPr id="12" name="Image 0" descr="/Users/heikikun/Documents/skills/ppt-design-polish/examples/visual-defaults/assets/icons/lightbulb-2026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2057400"/>
            <a:ext cx="420624" cy="42062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886200" y="273405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buNone/>
            </a:pPr>
            <a:r>
              <a:rPr lang="zh-CN" altLang="en-US" sz="20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弧光照明系统</a:t>
            </a:r>
            <a:endParaRPr lang="zh-CN" sz="2000" dirty="0"/>
          </a:p>
        </p:txBody>
      </p:sp>
      <p:pic>
        <p:nvPicPr>
          <p:cNvPr id="14" name="Image 1" descr="/Users/heikikun/Documents/skills/ppt-design-polish/examples/visual-defaults/assets/icons/radio-2026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288" y="3840480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14400" y="451713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buNone/>
            </a:pPr>
            <a:r>
              <a:rPr lang="zh-CN" altLang="en-US" sz="20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感知模块</a:t>
            </a:r>
            <a:endParaRPr lang="zh-CN" sz="2000" dirty="0"/>
          </a:p>
        </p:txBody>
      </p:sp>
      <p:sp>
        <p:nvSpPr>
          <p:cNvPr id="16" name="Text 12"/>
          <p:cNvSpPr/>
          <p:nvPr/>
        </p:nvSpPr>
        <p:spPr>
          <a:xfrm>
            <a:off x="914400" y="516636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76"/>
              </a:lnSpc>
              <a:buNone/>
            </a:pPr>
            <a:r>
              <a:rPr lang="zh-CN" altLang="en-US" sz="17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接收环境光输入</a:t>
            </a:r>
            <a:endParaRPr lang="zh-CN" sz="1700" dirty="0"/>
          </a:p>
        </p:txBody>
      </p:sp>
      <p:pic>
        <p:nvPicPr>
          <p:cNvPr id="17" name="Image 2" descr="/Users/heikikun/Documents/skills/ppt-design-polish/examples/visual-defaults/assets/icons/sliders-horizontal-20262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3840480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80560" y="451713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buNone/>
            </a:pPr>
            <a:r>
              <a:rPr lang="zh-CN" altLang="en-US" sz="20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控制模块</a:t>
            </a:r>
            <a:endParaRPr lang="zh-CN" sz="2000" dirty="0"/>
          </a:p>
        </p:txBody>
      </p:sp>
      <p:sp>
        <p:nvSpPr>
          <p:cNvPr id="19" name="Text 14"/>
          <p:cNvSpPr/>
          <p:nvPr/>
        </p:nvSpPr>
        <p:spPr>
          <a:xfrm>
            <a:off x="4480560" y="516636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76"/>
              </a:lnSpc>
              <a:buNone/>
            </a:pPr>
            <a:r>
              <a:rPr lang="zh-CN" altLang="en-US" sz="17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结合自动与手动选择</a:t>
            </a:r>
            <a:endParaRPr lang="zh-CN" sz="1700" dirty="0"/>
          </a:p>
        </p:txBody>
      </p:sp>
      <p:pic>
        <p:nvPicPr>
          <p:cNvPr id="20" name="Image 3" descr="/Users/heikikun/Documents/skills/ppt-design-polish/examples/visual-defaults/assets/icons/lightbulb-20262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840480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046720" y="451713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buNone/>
            </a:pPr>
            <a:r>
              <a:rPr lang="zh-CN" altLang="en-US" sz="20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照明模块</a:t>
            </a:r>
            <a:endParaRPr lang="zh-CN" sz="2000" dirty="0"/>
          </a:p>
        </p:txBody>
      </p:sp>
      <p:sp>
        <p:nvSpPr>
          <p:cNvPr id="22" name="Text 16"/>
          <p:cNvSpPr/>
          <p:nvPr/>
        </p:nvSpPr>
        <p:spPr>
          <a:xfrm>
            <a:off x="8046720" y="516636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76"/>
              </a:lnSpc>
              <a:buNone/>
            </a:pPr>
            <a:r>
              <a:rPr lang="zh-CN" altLang="en-US" sz="17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输出光线</a:t>
            </a:r>
            <a:endParaRPr lang="zh-CN" sz="1700" dirty="0"/>
          </a:p>
        </p:txBody>
      </p:sp>
      <p:sp>
        <p:nvSpPr>
          <p:cNvPr id="23" name="Text 17"/>
          <p:cNvSpPr/>
          <p:nvPr/>
        </p:nvSpPr>
        <p:spPr>
          <a:xfrm>
            <a:off x="685800" y="58978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8"/>
              </a:lnSpc>
              <a:buNone/>
            </a:pPr>
            <a:r>
              <a:rPr lang="zh-CN" altLang="en-US" sz="16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尚未确定售价、上市时间或真实量产参数。</a:t>
            </a:r>
            <a:endParaRPr lang="zh-CN" sz="1600" dirty="0"/>
          </a:p>
        </p:txBody>
      </p:sp>
      <p:sp>
        <p:nvSpPr>
          <p:cNvPr id="24" name="Text 18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09</a:t>
            </a:r>
            <a:endParaRPr lang="zh-CN" sz="900" dirty="0"/>
          </a:p>
        </p:txBody>
      </p:sp>
      <p:sp>
        <p:nvSpPr>
          <p:cNvPr id="25" name="Text 19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全部产品、图片与数值均为虚构设计演示，不代表真实产品性能或调研结论。</a:t>
            </a:r>
            <a:endParaRPr lang="zh-CN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 GB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弧光 / ARC — 自动视觉构成样例</dc:title>
  <dc:subject/>
  <dc:creator>PPT Design &amp; Polish</dc:creator>
  <cp:lastModifiedBy>PPT Design &amp; Polish</cp:lastModifiedBy>
  <cp:revision>1</cp:revision>
  <dcterms:created xsi:type="dcterms:W3CDTF">2026-10-22T11:53:42Z</dcterms:created>
  <dcterms:modified xsi:type="dcterms:W3CDTF">2026-10-22T11:53:42Z</dcterms:modified>
</cp:coreProperties>
</file>