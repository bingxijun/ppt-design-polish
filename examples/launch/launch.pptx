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关注比例</c:v>
                </c:pt>
              </c:strCache>
            </c:strRef>
          </c:tx>
          <c:spPr>
            <a:solidFill>
              <a:srgbClr val="2874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83B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续航</c:v>
                  </c:pt>
                  <c:pt idx="1">
                    <c:v>补能</c:v>
                  </c:pt>
                  <c:pt idx="2">
                    <c:v>空间</c:v>
                  </c:pt>
                  <c:pt idx="3">
                    <c:v>其他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31</c:v>
                </c:pt>
                <c:pt idx="2">
                  <c:v>21</c:v>
                </c:pt>
                <c:pt idx="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183B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88084"/>
                </a:solidFill>
                <a:latin typeface="Hiragino Sans GB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C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88084"/>
                </a:solidFill>
                <a:latin typeface="Hiragino Sans GB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heikikun/Documents/skills/ppt-design-polish/examples/launch/assets/hero.jpg">    </p:cNvPr>
          <p:cNvPicPr>
            <a:picLocks noChangeAspect="1"/>
          </p:cNvPicPr>
          <p:nvPr/>
        </p:nvPicPr>
        <p:blipFill>
          <a:blip r:embed="rId1"/>
          <a:srcRect l="0" r="0" t="27" b="2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虚构品牌与数据，仅作开源示例。配图由 AI 生成。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6217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AERIS ONE</a:t>
            </a:r>
            <a:endParaRPr lang="en-US" sz="4200" dirty="0"/>
          </a:p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新车发布会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676656" y="306324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2026 年 10 月 21 日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76656" y="54132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面向家庭日常出行的纯电 SUV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今天，认识 AERIS ONE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1554480" y="2423160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产品概览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554480" y="3063240"/>
            <a:ext cx="996696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227832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554480" y="3227832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座舱与设计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554480" y="3867912"/>
            <a:ext cx="996696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32504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554480" y="4032504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续航与补能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554480" y="4672584"/>
            <a:ext cx="996696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837176"/>
            <a:ext cx="685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版本与交付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554480" y="5477256"/>
            <a:ext cx="996696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3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PRODUCT 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987552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dirty="0">
                <a:solidFill>
                  <a:srgbClr val="3161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6" name="Text 4"/>
          <p:cNvSpPr/>
          <p:nvPr/>
        </p:nvSpPr>
        <p:spPr>
          <a:xfrm>
            <a:off x="685800" y="3182112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产品概览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22376" y="47091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DCD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为家庭日常出行而设计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产品概览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参数为虚构演示设定，非真实测试结果。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 ONE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空间，留给每一段日常</a:t>
            </a:r>
            <a:endParaRPr lang="en-US" sz="3200" dirty="0"/>
          </a:p>
        </p:txBody>
      </p:sp>
      <p:pic>
        <p:nvPicPr>
          <p:cNvPr id="8" name="Image 0" descr="/Users/heikikun/Documents/skills/ppt-design-polish/examples/launch/assets/prof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2266188"/>
            <a:ext cx="7772400" cy="2590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21792" y="2423160"/>
            <a:ext cx="29443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纯电 SUV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宽敞空间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安静舒适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52212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640080" y="5852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km  示例 CLTC 续航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85488" y="52212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2950</a:t>
            </a:r>
            <a:endParaRPr lang="en-US" sz="3300" dirty="0"/>
          </a:p>
        </p:txBody>
      </p:sp>
      <p:sp>
        <p:nvSpPr>
          <p:cNvPr id="13" name="Text 10"/>
          <p:cNvSpPr/>
          <p:nvPr/>
        </p:nvSpPr>
        <p:spPr>
          <a:xfrm>
            <a:off x="4285488" y="5852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mm  轴距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30896" y="522122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520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7930896" y="58521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L  后备厢常规容积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座舱与设计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虚构品牌与数据，仅作开源示例。配图由 AI 生成。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CABIN EXPERIENCE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坐下来，感受空间的温度</a:t>
            </a:r>
            <a:endParaRPr lang="en-US" sz="3200" dirty="0"/>
          </a:p>
        </p:txBody>
      </p:sp>
      <p:pic>
        <p:nvPicPr>
          <p:cNvPr id="8" name="Image 0" descr="/Users/heikikun/Documents/skills/ppt-design-polish/examples/launch/assets/interior.jpg">    </p:cNvPr>
          <p:cNvPicPr>
            <a:picLocks noChangeAspect="1"/>
          </p:cNvPicPr>
          <p:nvPr/>
        </p:nvPicPr>
        <p:blipFill>
          <a:blip r:embed="rId1"/>
          <a:srcRect l="2668" r="2668" t="0" b="0"/>
          <a:stretch/>
        </p:blipFill>
        <p:spPr>
          <a:xfrm>
            <a:off x="5257800" y="2304288"/>
            <a:ext cx="6336792" cy="37673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2313432"/>
            <a:ext cx="41605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597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触手可及的质感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2916936"/>
            <a:ext cx="416052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浅色织物与细纹皮革，搭配缎面金属饰条。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3112"/>
            <a:ext cx="41605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70941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照顾每一排乘员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4166616"/>
            <a:ext cx="416052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前排加热与通风，后排靠背角度可调。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812792"/>
            <a:ext cx="41605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495909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熟悉的操作方式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40080" y="5416296"/>
            <a:ext cx="416052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全景玻璃车顶配遮阳帘，保留常用空调实体控制。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3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续航与补能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CLTC 为示例标称工况。实际续航受温度、速度、路况与载荷影响。此处数据不能作为真实车辆购买依据。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长续航版的示例 CLTC 续航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640080" y="2221992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0500" dirty="0"/>
          </a:p>
        </p:txBody>
      </p:sp>
      <p:sp>
        <p:nvSpPr>
          <p:cNvPr id="8" name="Text 6"/>
          <p:cNvSpPr/>
          <p:nvPr/>
        </p:nvSpPr>
        <p:spPr>
          <a:xfrm>
            <a:off x="7882128" y="2926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6DCD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km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731520" y="47548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6DCD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标准版示例续航为 510 km。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续航与补能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示例条件：兼容充电设备、电池温度适宜。不含排队与设备启动时间。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补能时间，也值得认真设计</a:t>
            </a:r>
            <a:endParaRPr lang="en-US" sz="3200" dirty="0"/>
          </a:p>
        </p:txBody>
      </p:sp>
      <p:pic>
        <p:nvPicPr>
          <p:cNvPr id="8" name="Image 0" descr="/Users/heikikun/Documents/skills/ppt-design-polish/examples/launch/assets/charging.jpg">    </p:cNvPr>
          <p:cNvPicPr>
            <a:picLocks noChangeAspect="1"/>
          </p:cNvPicPr>
          <p:nvPr/>
        </p:nvPicPr>
        <p:blipFill>
          <a:blip r:embed="rId1"/>
          <a:srcRect l="2668" r="2668" t="0" b="0"/>
          <a:stretch/>
        </p:blipFill>
        <p:spPr>
          <a:xfrm>
            <a:off x="5257800" y="2304288"/>
            <a:ext cx="6336792" cy="376732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2313432"/>
            <a:ext cx="41605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5973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18 分钟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40080" y="2916936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示例直流快充，从 10% 到 80%。仅适用于长续航版。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187952"/>
            <a:ext cx="41605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4334256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夜间，在家充电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4791456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支持家庭交流充电，本稿未提供交流充电时间。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座舱与设计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AI 配图仅用于表达设计方向，图中细节不构成产品配置承诺。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EXTERIOR DESIGN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连续的线条，舒展的比例</a:t>
            </a:r>
            <a:endParaRPr lang="en-US" sz="3200" dirty="0"/>
          </a:p>
        </p:txBody>
      </p:sp>
      <p:pic>
        <p:nvPicPr>
          <p:cNvPr id="8" name="Image 0" descr="/Users/heikikun/Documents/skills/ppt-design-polish/examples/launch/assets/detail.jpg">    </p:cNvPr>
          <p:cNvPicPr>
            <a:picLocks noChangeAspect="1"/>
          </p:cNvPicPr>
          <p:nvPr/>
        </p:nvPicPr>
        <p:blipFill>
          <a:blip r:embed="rId1"/>
          <a:srcRect l="0" r="0" t="1520" b="1520"/>
          <a:stretch/>
        </p:blipFill>
        <p:spPr>
          <a:xfrm>
            <a:off x="594360" y="2304288"/>
            <a:ext cx="6903720" cy="3767328"/>
          </a:xfrm>
          <a:prstGeom prst="rect">
            <a:avLst/>
          </a:prstGeom>
        </p:spPr>
      </p:pic>
      <p:pic>
        <p:nvPicPr>
          <p:cNvPr id="9" name="Image 1" descr="/Users/heikikun/Documents/skills/ppt-design-polish/examples/launch/assets/road.jpg">    </p:cNvPr>
          <p:cNvPicPr>
            <a:picLocks noChangeAspect="1"/>
          </p:cNvPicPr>
          <p:nvPr/>
        </p:nvPicPr>
        <p:blipFill>
          <a:blip r:embed="rId2"/>
          <a:srcRect l="0" r="0" t="249" b="249"/>
          <a:stretch/>
        </p:blipFill>
        <p:spPr>
          <a:xfrm>
            <a:off x="7708392" y="2304288"/>
            <a:ext cx="3886200" cy="21762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08392" y="4681728"/>
            <a:ext cx="388620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708392" y="482803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珍珠白，配浅色内饰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708392" y="5285232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水平线条、隐藏式门把手与圆润转角。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需求与产品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单位：%。示例需求调研，n = 240，单选。数据为虚构演示设定。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SURVEY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续航与补能，是最关注的两项</a:t>
            </a:r>
            <a:endParaRPr lang="en-US" sz="3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85800" y="2468880"/>
          <a:ext cx="69494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2523744"/>
            <a:ext cx="32461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0" y="26700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单选问卷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0" y="312724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示例样本 240 人，四项比例合计 100%。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29600" y="4215384"/>
            <a:ext cx="32461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0" y="43616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演示数据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229600" y="4818888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本页展示图表与信息层级，不构成市场研究结论。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版本与交付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所有售价与参数均为演示。快充示例条件见补能页，标准版快充时间未提供。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两个版本，同样宽敞的空间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10917936" cy="3346704"/>
        </p:xfrm>
        <a:graphic>
          <a:graphicData uri="http://schemas.openxmlformats.org/drawingml/2006/table">
            <a:tbl>
              <a:tblPr/>
              <a:tblGrid>
                <a:gridCol w="3639312"/>
                <a:gridCol w="3639312"/>
                <a:gridCol w="3639312"/>
              </a:tblGrid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车型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4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标准版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4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长续航版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47A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示例售价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¥199,800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¥229,800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CLTC 续航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510 km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620 km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轴距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2950 mm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2950 mm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后备厢容积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520 L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520 L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77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快充 10% 至 80%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未提供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3B40"/>
                          </a:solidFill>
                          <a:latin typeface="Hiragino Sans GB" pitchFamily="34" charset="0"/>
                          <a:ea typeface="Hiragino Sans GB" pitchFamily="34" charset="-122"/>
                          <a:cs typeface="Hiragino Sans GB" pitchFamily="34" charset="-120"/>
                        </a:rPr>
                        <a:t>18 分钟</a:t>
                      </a:r>
                      <a:endParaRPr lang="en-US" sz="1600" dirty="0">
                        <a:latin typeface="Hiragino Sans GB" charset="0"/>
                        <a:ea typeface="Hiragino Sans GB" charset="0"/>
                        <a:cs typeface="Hiragino Sans GB" charset="0"/>
                      </a:endParaRPr>
                    </a:p>
                  </a:txBody>
                  <a:tcPr marL="109728" marR="109728" marT="109728" marB="109728" anchor="mid">
                    <a:lnL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5F9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版本与交付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时间表为虚构演示设定。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从预约，到首批交付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749808" y="3136392"/>
            <a:ext cx="1060704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3063240"/>
            <a:ext cx="146304" cy="146304"/>
          </a:xfrm>
          <a:prstGeom prst="rect">
            <a:avLst/>
          </a:prstGeom>
          <a:solidFill>
            <a:srgbClr val="2874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450592"/>
            <a:ext cx="3212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3511296"/>
            <a:ext cx="3212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开放预约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49808" y="4251960"/>
            <a:ext cx="3212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预约不收取费用。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46448" y="3063240"/>
            <a:ext cx="146304" cy="146304"/>
          </a:xfrm>
          <a:prstGeom prst="rect">
            <a:avLst/>
          </a:prstGeom>
          <a:solidFill>
            <a:srgbClr val="2874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46448" y="2450592"/>
            <a:ext cx="3212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08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346448" y="3511296"/>
            <a:ext cx="3212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门店体验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346448" y="4251960"/>
            <a:ext cx="3212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具体门店名单尚未提供。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43088" y="3063240"/>
            <a:ext cx="146304" cy="146304"/>
          </a:xfrm>
          <a:prstGeom prst="rect">
            <a:avLst/>
          </a:prstGeom>
          <a:solidFill>
            <a:srgbClr val="28747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43088" y="2450592"/>
            <a:ext cx="3212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01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7943088" y="3511296"/>
            <a:ext cx="32125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首批交付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943088" y="4251960"/>
            <a:ext cx="32125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限示例指定区域，区域名单尚未提供。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版本与交付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虚构品牌与数据，仅作开源示例。配图由 AI 生成。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758952"/>
            <a:ext cx="10789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874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83B40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质保信息，明确呈现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107899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2374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整车示例质保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98094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5 年或 120,000 km，以先到者为准。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3581400"/>
            <a:ext cx="107899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72770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电池示例质保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85800" y="418490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8 年或 160,000 km，以先到者为准。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785360"/>
            <a:ext cx="10789920" cy="0"/>
          </a:xfrm>
          <a:prstGeom prst="line">
            <a:avLst/>
          </a:prstGeom>
          <a:noFill/>
          <a:ln w="7620">
            <a:solidFill>
              <a:srgbClr val="C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31664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83B40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完整条款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85800" y="5388864"/>
            <a:ext cx="1078992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88084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其他条款未提供，需要以最终正式说明为准。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3B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56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0" y="256032"/>
            <a:ext cx="3803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新车发布会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155680" y="6373368"/>
            <a:ext cx="429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6336792"/>
            <a:ext cx="101498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E4E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虚构品牌与数据，仅作开源示例。配图由 AI 生成。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AERIS ONE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85800" y="27614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¥199,800 起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731520" y="4160520"/>
            <a:ext cx="9875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6DCD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标准版示例售价。长续航版 ¥229,800。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C6DCDB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10 月 21 日起免费预约。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ngti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AERIS ONE 新车发布会</dc:title>
  <dc:subject/>
  <dc:creator>PPT Design &amp; Polish</dc:creator>
  <cp:lastModifiedBy>PPT Design &amp; Polish</cp:lastModifiedBy>
  <cp:revision>1</cp:revision>
  <dcterms:created xsi:type="dcterms:W3CDTF">2026-10-21T13:35:20Z</dcterms:created>
  <dcterms:modified xsi:type="dcterms:W3CDTF">2026-10-21T13:35:20Z</dcterms:modified>
</cp:coreProperties>
</file>