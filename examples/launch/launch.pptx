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关注比例</c:v>
                </c:pt>
              </c:strCache>
            </c:strRef>
          </c:tx>
          <c:spPr>
            <a:solidFill>
              <a:srgbClr val="28747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183B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874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83B4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83B4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83B4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续航</c:v>
                  </c:pt>
                  <c:pt idx="1">
                    <c:v>补能</c:v>
                  </c:pt>
                  <c:pt idx="2">
                    <c:v>空间</c:v>
                  </c:pt>
                  <c:pt idx="3">
                    <c:v>其他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31</c:v>
                </c:pt>
                <c:pt idx="2">
                  <c:v>21</c:v>
                </c:pt>
                <c:pt idx="3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500" u="none">
                  <a:solidFill>
                    <a:srgbClr val="183B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83B40"/>
                </a:solidFill>
                <a:latin typeface="Hiragino Sans GB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88084"/>
                </a:solidFill>
                <a:latin typeface="Hiragino Sans GB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eikikun/Documents/skills/ppt-design-polish/examples/launch/assets/hero.jpg">    </p:cNvPr>
          <p:cNvPicPr>
            <a:picLocks noChangeAspect="1"/>
          </p:cNvPicPr>
          <p:nvPr/>
        </p:nvPicPr>
        <p:blipFill>
          <a:blip r:embed="rId1"/>
          <a:srcRect l="0" r="0" t="27" b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D6E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AERIS</a:t>
            </a:r>
            <a:endParaRPr lang="zh-CN" sz="1000" dirty="0"/>
          </a:p>
        </p:txBody>
      </p:sp>
      <p:sp>
        <p:nvSpPr>
          <p:cNvPr id="4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D6E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zh-CN" sz="900" dirty="0"/>
          </a:p>
        </p:txBody>
      </p:sp>
      <p:sp>
        <p:nvSpPr>
          <p:cNvPr id="5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D6E7E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虚构品牌与数据，仅作开源示例。配图由 AI 生成。</a:t>
            </a:r>
            <a:endParaRPr lang="zh-CN" sz="900" dirty="0"/>
          </a:p>
        </p:txBody>
      </p:sp>
      <p:sp>
        <p:nvSpPr>
          <p:cNvPr id="6" name="Text 3"/>
          <p:cNvSpPr/>
          <p:nvPr/>
        </p:nvSpPr>
        <p:spPr>
          <a:xfrm>
            <a:off x="640080" y="1298448"/>
            <a:ext cx="6217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52"/>
              </a:lnSpc>
              <a:buNone/>
            </a:pPr>
            <a:r>
              <a:rPr lang="zh-CN" altLang="en-US" sz="42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AERIS ONE</a:t>
            </a:r>
            <a:endParaRPr lang="zh-CN" sz="4200" dirty="0"/>
          </a:p>
          <a:p>
            <a:pPr indent="0" marL="0">
              <a:lnSpc>
                <a:spcPts val="4452"/>
              </a:lnSpc>
              <a:buNone/>
            </a:pPr>
            <a:r>
              <a:rPr lang="zh-CN" altLang="en-US" sz="42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新车发布会</a:t>
            </a:r>
            <a:endParaRPr lang="zh-CN" sz="4200" dirty="0"/>
          </a:p>
        </p:txBody>
      </p:sp>
      <p:sp>
        <p:nvSpPr>
          <p:cNvPr id="7" name="Text 4"/>
          <p:cNvSpPr/>
          <p:nvPr/>
        </p:nvSpPr>
        <p:spPr>
          <a:xfrm>
            <a:off x="676656" y="3063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8"/>
              </a:lnSpc>
              <a:buNone/>
            </a:pPr>
            <a:r>
              <a:rPr lang="zh-CN" altLang="en-US" sz="1600" dirty="0">
                <a:solidFill>
                  <a:srgbClr val="D6E7E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2026 年 10 月 21 日</a:t>
            </a:r>
            <a:endParaRPr lang="zh-CN" sz="1600" dirty="0"/>
          </a:p>
        </p:txBody>
      </p:sp>
      <p:sp>
        <p:nvSpPr>
          <p:cNvPr id="8" name="Text 5"/>
          <p:cNvSpPr/>
          <p:nvPr/>
        </p:nvSpPr>
        <p:spPr>
          <a:xfrm>
            <a:off x="676656" y="541324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zh-CN" altLang="en-US" sz="1200" dirty="0">
                <a:solidFill>
                  <a:srgbClr val="D6E7E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面向家庭日常出行的纯电 SUV</a:t>
            </a:r>
            <a:endParaRPr lang="zh-CN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88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AERIS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88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8808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620 km 为长续航版示例 CLTC 标称值；实际续航受温度、速度、路况与载荷影响。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92"/>
              </a:lnSpc>
              <a:buNone/>
            </a:pPr>
            <a:r>
              <a:rPr lang="zh-CN" altLang="en-US" sz="3200" dirty="0">
                <a:solidFill>
                  <a:srgbClr val="183B4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家庭纯电 SUV</a:t>
            </a:r>
            <a:endParaRPr lang="zh-CN" sz="3200" dirty="0"/>
          </a:p>
        </p:txBody>
      </p:sp>
      <p:pic>
        <p:nvPicPr>
          <p:cNvPr id="6" name="Image 0" descr="/Users/heikikun/Documents/skills/ppt-design-polish/examples/launch/assets/profi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2266188"/>
            <a:ext cx="7772400" cy="2590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2423160"/>
            <a:ext cx="29443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zh-CN" altLang="en-US" sz="19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面向家庭日常出行</a:t>
            </a:r>
            <a:endParaRPr lang="zh-CN" sz="1900" dirty="0"/>
          </a:p>
          <a:p>
            <a:pPr indent="0" marL="0">
              <a:lnSpc>
                <a:spcPts val="2432"/>
              </a:lnSpc>
              <a:buNone/>
            </a:pPr>
            <a:r>
              <a:rPr lang="zh-CN" altLang="en-US" sz="19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宽敞空间，安静舒适</a:t>
            </a:r>
            <a:endParaRPr lang="zh-CN" sz="1900" dirty="0"/>
          </a:p>
        </p:txBody>
      </p:sp>
      <p:sp>
        <p:nvSpPr>
          <p:cNvPr id="8" name="Text 5"/>
          <p:cNvSpPr/>
          <p:nvPr/>
        </p:nvSpPr>
        <p:spPr>
          <a:xfrm>
            <a:off x="640080" y="52212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98"/>
              </a:lnSpc>
              <a:buNone/>
            </a:pPr>
            <a:r>
              <a:rPr lang="zh-CN" altLang="en-US" sz="3300" dirty="0">
                <a:solidFill>
                  <a:srgbClr val="18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620</a:t>
            </a:r>
            <a:endParaRPr lang="zh-CN" sz="3300" dirty="0"/>
          </a:p>
        </p:txBody>
      </p:sp>
      <p:sp>
        <p:nvSpPr>
          <p:cNvPr id="9" name="Text 6"/>
          <p:cNvSpPr/>
          <p:nvPr/>
        </p:nvSpPr>
        <p:spPr>
          <a:xfrm>
            <a:off x="640080" y="5852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zh-CN" altLang="en-US" sz="1200" dirty="0">
                <a:solidFill>
                  <a:srgbClr val="68808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km  示例 CLTC 续航</a:t>
            </a:r>
            <a:endParaRPr lang="zh-CN" sz="1200" dirty="0"/>
          </a:p>
        </p:txBody>
      </p:sp>
      <p:sp>
        <p:nvSpPr>
          <p:cNvPr id="10" name="Text 7"/>
          <p:cNvSpPr/>
          <p:nvPr/>
        </p:nvSpPr>
        <p:spPr>
          <a:xfrm>
            <a:off x="4285488" y="52212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98"/>
              </a:lnSpc>
              <a:buNone/>
            </a:pPr>
            <a:r>
              <a:rPr lang="zh-CN" altLang="en-US" sz="3300" dirty="0">
                <a:solidFill>
                  <a:srgbClr val="18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2950</a:t>
            </a:r>
            <a:endParaRPr lang="zh-CN" sz="3300" dirty="0"/>
          </a:p>
        </p:txBody>
      </p:sp>
      <p:sp>
        <p:nvSpPr>
          <p:cNvPr id="11" name="Text 8"/>
          <p:cNvSpPr/>
          <p:nvPr/>
        </p:nvSpPr>
        <p:spPr>
          <a:xfrm>
            <a:off x="4285488" y="5852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zh-CN" altLang="en-US" sz="1200" dirty="0">
                <a:solidFill>
                  <a:srgbClr val="68808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mm  轴距</a:t>
            </a:r>
            <a:endParaRPr lang="zh-CN" sz="1200" dirty="0"/>
          </a:p>
        </p:txBody>
      </p:sp>
      <p:sp>
        <p:nvSpPr>
          <p:cNvPr id="12" name="Text 9"/>
          <p:cNvSpPr/>
          <p:nvPr/>
        </p:nvSpPr>
        <p:spPr>
          <a:xfrm>
            <a:off x="7930896" y="52212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98"/>
              </a:lnSpc>
              <a:buNone/>
            </a:pPr>
            <a:r>
              <a:rPr lang="zh-CN" altLang="en-US" sz="3300" dirty="0">
                <a:solidFill>
                  <a:srgbClr val="18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</a:t>
            </a:r>
            <a:endParaRPr lang="zh-CN" sz="3300" dirty="0"/>
          </a:p>
        </p:txBody>
      </p:sp>
      <p:sp>
        <p:nvSpPr>
          <p:cNvPr id="13" name="Text 10"/>
          <p:cNvSpPr/>
          <p:nvPr/>
        </p:nvSpPr>
        <p:spPr>
          <a:xfrm>
            <a:off x="7930896" y="5852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zh-CN" altLang="en-US" sz="1200" dirty="0">
                <a:solidFill>
                  <a:srgbClr val="68808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L  后备厢常规容积</a:t>
            </a:r>
            <a:endParaRPr lang="zh-CN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88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AERIS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88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8808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虚构品牌与数据，仅作开源示例。配图由 AI 生成。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92"/>
              </a:lnSpc>
              <a:buNone/>
            </a:pPr>
            <a:r>
              <a:rPr lang="zh-CN" altLang="en-US" sz="3200" dirty="0">
                <a:solidFill>
                  <a:srgbClr val="183B4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座舱配置与材质</a:t>
            </a:r>
            <a:endParaRPr lang="zh-CN" sz="3200" dirty="0"/>
          </a:p>
        </p:txBody>
      </p:sp>
      <p:pic>
        <p:nvPicPr>
          <p:cNvPr id="6" name="Image 0" descr="/Users/heikikun/Documents/skills/ppt-design-polish/examples/launch/assets/interior.jpg">    </p:cNvPr>
          <p:cNvPicPr>
            <a:picLocks noChangeAspect="1"/>
          </p:cNvPicPr>
          <p:nvPr/>
        </p:nvPicPr>
        <p:blipFill>
          <a:blip r:embed="rId1"/>
          <a:srcRect l="2668" r="2668" t="0" b="0"/>
          <a:stretch/>
        </p:blipFill>
        <p:spPr>
          <a:xfrm>
            <a:off x="5257800" y="2304288"/>
            <a:ext cx="6336792" cy="3767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13432"/>
            <a:ext cx="4160520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88"/>
              </a:lnSpc>
              <a:buNone/>
            </a:pPr>
            <a:r>
              <a:rPr lang="zh-CN" altLang="en-US" sz="21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前排加热与通风，</a:t>
            </a:r>
            <a:endParaRPr lang="zh-CN" sz="2100" dirty="0"/>
          </a:p>
          <a:p>
            <a:pPr indent="0" marL="0">
              <a:lnSpc>
                <a:spcPts val="2688"/>
              </a:lnSpc>
              <a:buNone/>
            </a:pPr>
            <a:r>
              <a:rPr lang="zh-CN" altLang="en-US" sz="21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后排靠背角度可调。</a:t>
            </a:r>
            <a:endParaRPr lang="zh-CN" sz="2100" dirty="0"/>
          </a:p>
        </p:txBody>
      </p:sp>
      <p:sp>
        <p:nvSpPr>
          <p:cNvPr id="8" name="Text 5"/>
          <p:cNvSpPr/>
          <p:nvPr/>
        </p:nvSpPr>
        <p:spPr>
          <a:xfrm>
            <a:off x="640080" y="3297936"/>
            <a:ext cx="4160520" cy="336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zh-CN" altLang="en-US" sz="1900" b="1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织物、皮革与金属</a:t>
            </a:r>
            <a:endParaRPr lang="zh-CN" sz="1900" dirty="0"/>
          </a:p>
        </p:txBody>
      </p:sp>
      <p:sp>
        <p:nvSpPr>
          <p:cNvPr id="9" name="Text 6"/>
          <p:cNvSpPr/>
          <p:nvPr/>
        </p:nvSpPr>
        <p:spPr>
          <a:xfrm>
            <a:off x="640080" y="3743960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浅色织物与细纹皮革，</a:t>
            </a:r>
            <a:endParaRPr lang="zh-CN" sz="1800" dirty="0"/>
          </a:p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搭配缎面金属饰条。</a:t>
            </a:r>
            <a:endParaRPr lang="zh-CN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4566920"/>
            <a:ext cx="4160520" cy="336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32"/>
              </a:lnSpc>
              <a:buNone/>
            </a:pPr>
            <a:r>
              <a:rPr lang="zh-CN" altLang="en-US" sz="1900" b="1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车顶与空调控制</a:t>
            </a:r>
            <a:endParaRPr lang="zh-CN" sz="1900" dirty="0"/>
          </a:p>
        </p:txBody>
      </p:sp>
      <p:sp>
        <p:nvSpPr>
          <p:cNvPr id="11" name="Text 8"/>
          <p:cNvSpPr/>
          <p:nvPr/>
        </p:nvSpPr>
        <p:spPr>
          <a:xfrm>
            <a:off x="640080" y="5012944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全景玻璃车顶配遮阳帘，</a:t>
            </a:r>
            <a:endParaRPr lang="zh-CN" sz="1800" dirty="0"/>
          </a:p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保留常用空调实体控制。</a:t>
            </a:r>
            <a:endParaRPr lang="zh-CN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88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AERIS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88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8808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示例条件：兼容充电设备、电池温度适宜。不含排队与设备启动时间。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92"/>
              </a:lnSpc>
              <a:buNone/>
            </a:pPr>
            <a:r>
              <a:rPr lang="zh-CN" altLang="en-US" sz="3200" dirty="0">
                <a:solidFill>
                  <a:srgbClr val="183B4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长续航版的快充表现</a:t>
            </a:r>
            <a:endParaRPr lang="zh-CN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24"/>
              </a:lnSpc>
              <a:buNone/>
            </a:pPr>
            <a:r>
              <a:rPr lang="zh-CN" altLang="en-US" sz="54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18 分钟</a:t>
            </a:r>
            <a:endParaRPr lang="zh-CN" sz="5400" dirty="0"/>
          </a:p>
        </p:txBody>
      </p:sp>
      <p:sp>
        <p:nvSpPr>
          <p:cNvPr id="7" name="Text 5"/>
          <p:cNvSpPr/>
          <p:nvPr/>
        </p:nvSpPr>
        <p:spPr>
          <a:xfrm>
            <a:off x="658368" y="361188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2"/>
              </a:lnSpc>
              <a:buNone/>
            </a:pPr>
            <a:r>
              <a:rPr lang="zh-CN" altLang="en-US" sz="19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示例直流快充，从 10% 到 80%。</a:t>
            </a:r>
            <a:endParaRPr lang="zh-CN" sz="1900" dirty="0"/>
          </a:p>
          <a:p>
            <a:pPr algn="l" indent="0" marL="0">
              <a:lnSpc>
                <a:spcPts val="2432"/>
              </a:lnSpc>
              <a:buNone/>
            </a:pPr>
            <a:r>
              <a:rPr lang="zh-CN" altLang="en-US" sz="19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仅适用于长续航版。</a:t>
            </a:r>
            <a:endParaRPr lang="zh-CN" sz="1900" dirty="0"/>
          </a:p>
        </p:txBody>
      </p:sp>
      <p:sp>
        <p:nvSpPr>
          <p:cNvPr id="8" name="Text 6"/>
          <p:cNvSpPr/>
          <p:nvPr/>
        </p:nvSpPr>
        <p:spPr>
          <a:xfrm>
            <a:off x="658368" y="50292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6"/>
              </a:lnSpc>
              <a:buNone/>
            </a:pPr>
            <a:r>
              <a:rPr lang="zh-CN" altLang="en-US" sz="1700" b="1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家庭交流充电</a:t>
            </a:r>
            <a:endParaRPr lang="zh-CN" sz="1700" dirty="0"/>
          </a:p>
        </p:txBody>
      </p:sp>
      <p:sp>
        <p:nvSpPr>
          <p:cNvPr id="9" name="Text 7"/>
          <p:cNvSpPr/>
          <p:nvPr/>
        </p:nvSpPr>
        <p:spPr>
          <a:xfrm>
            <a:off x="658368" y="546811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zh-CN" altLang="en-US" sz="16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可夜间使用家庭交流充电，</a:t>
            </a:r>
            <a:endParaRPr lang="zh-CN" sz="1600" dirty="0"/>
          </a:p>
          <a:p>
            <a:pPr algn="l" indent="0" marL="0">
              <a:lnSpc>
                <a:spcPts val="2048"/>
              </a:lnSpc>
              <a:buNone/>
            </a:pPr>
            <a:r>
              <a:rPr lang="zh-CN" altLang="en-US" sz="16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本稿未提供交流充电时间。</a:t>
            </a:r>
            <a:endParaRPr lang="zh-CN" sz="1600" dirty="0"/>
          </a:p>
        </p:txBody>
      </p:sp>
      <p:pic>
        <p:nvPicPr>
          <p:cNvPr id="10" name="Image 0" descr="/Users/heikikun/Documents/skills/ppt-design-polish/examples/launch/assets/charging.jpg">    </p:cNvPr>
          <p:cNvPicPr>
            <a:picLocks noChangeAspect="1"/>
          </p:cNvPicPr>
          <p:nvPr/>
        </p:nvPicPr>
        <p:blipFill>
          <a:blip r:embed="rId1"/>
          <a:srcRect l="2668" r="2668" t="0" b="0"/>
          <a:stretch/>
        </p:blipFill>
        <p:spPr>
          <a:xfrm>
            <a:off x="5257800" y="2304288"/>
            <a:ext cx="6336792" cy="37673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88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AERIS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88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8808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配图仅用于表达设计方向，图中细节不构成产品配置承诺。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92"/>
              </a:lnSpc>
              <a:buNone/>
            </a:pPr>
            <a:r>
              <a:rPr lang="zh-CN" altLang="en-US" sz="3200" dirty="0">
                <a:solidFill>
                  <a:srgbClr val="183B4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珍珠白车身与水平线条</a:t>
            </a:r>
            <a:endParaRPr lang="zh-CN" sz="3200" dirty="0"/>
          </a:p>
        </p:txBody>
      </p:sp>
      <p:pic>
        <p:nvPicPr>
          <p:cNvPr id="6" name="Image 0" descr="/Users/heikikun/Documents/skills/ppt-design-polish/examples/launch/assets/detail.jpg">    </p:cNvPr>
          <p:cNvPicPr>
            <a:picLocks noChangeAspect="1"/>
          </p:cNvPicPr>
          <p:nvPr/>
        </p:nvPicPr>
        <p:blipFill>
          <a:blip r:embed="rId1"/>
          <a:srcRect l="0" r="0" t="1520" b="1520"/>
          <a:stretch/>
        </p:blipFill>
        <p:spPr>
          <a:xfrm>
            <a:off x="594360" y="2304288"/>
            <a:ext cx="6903720" cy="3767328"/>
          </a:xfrm>
          <a:prstGeom prst="rect">
            <a:avLst/>
          </a:prstGeom>
        </p:spPr>
      </p:pic>
      <p:pic>
        <p:nvPicPr>
          <p:cNvPr id="7" name="Image 1" descr="/Users/heikikun/Documents/skills/ppt-design-polish/examples/launch/assets/road.jpg">    </p:cNvPr>
          <p:cNvPicPr>
            <a:picLocks noChangeAspect="1"/>
          </p:cNvPicPr>
          <p:nvPr/>
        </p:nvPicPr>
        <p:blipFill>
          <a:blip r:embed="rId2"/>
          <a:srcRect l="0" r="0" t="249" b="249"/>
          <a:stretch/>
        </p:blipFill>
        <p:spPr>
          <a:xfrm>
            <a:off x="7708392" y="2304288"/>
            <a:ext cx="3886200" cy="21762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08392" y="4681728"/>
            <a:ext cx="38862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深色全景车顶与分体式纤细灯组。</a:t>
            </a:r>
            <a:endParaRPr lang="zh-CN" sz="1800" dirty="0"/>
          </a:p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连续水平线条、隐藏式门把手，</a:t>
            </a:r>
            <a:endParaRPr lang="zh-CN" sz="1800" dirty="0"/>
          </a:p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搭配圆润转角。</a:t>
            </a:r>
            <a:endParaRPr lang="zh-CN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88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AERIS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88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8808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单位：%。示例需求调研，n = 240，单选。数据为虚构演示设定。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92"/>
              </a:lnSpc>
              <a:buNone/>
            </a:pPr>
            <a:r>
              <a:rPr lang="zh-CN" altLang="en-US" sz="3200" dirty="0">
                <a:solidFill>
                  <a:srgbClr val="183B4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续航是首要关注项</a:t>
            </a:r>
            <a:endParaRPr lang="zh-CN" sz="3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468880"/>
          <a:ext cx="69494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8229600" y="2523744"/>
            <a:ext cx="3246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示例样本 240 人，四项比例</a:t>
            </a:r>
            <a:endParaRPr lang="zh-CN" sz="1800" dirty="0"/>
          </a:p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合计 100%。</a:t>
            </a:r>
            <a:endParaRPr lang="zh-CN" sz="1800" dirty="0"/>
          </a:p>
        </p:txBody>
      </p:sp>
      <p:sp>
        <p:nvSpPr>
          <p:cNvPr id="8" name="Text 5"/>
          <p:cNvSpPr/>
          <p:nvPr/>
        </p:nvSpPr>
        <p:spPr>
          <a:xfrm>
            <a:off x="8229600" y="3346704"/>
            <a:ext cx="32461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68808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本页展示图表与信息层级，不</a:t>
            </a:r>
            <a:endParaRPr lang="zh-CN" sz="1800" dirty="0"/>
          </a:p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68808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构成市场研究结论。</a:t>
            </a:r>
            <a:endParaRPr lang="zh-CN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88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AERIS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88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8808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所有售价与参数均为演示。快充示例条件见补能页，标准版快充时间未提供。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92"/>
              </a:lnSpc>
              <a:buNone/>
            </a:pPr>
            <a:r>
              <a:rPr lang="zh-CN" altLang="en-US" sz="3200" dirty="0">
                <a:solidFill>
                  <a:srgbClr val="183B4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版本差异与示例售价</a:t>
            </a:r>
            <a:endParaRPr lang="zh-CN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23160"/>
          <a:ext cx="10917936" cy="2040128"/>
        </p:xfrm>
        <a:graphic>
          <a:graphicData uri="http://schemas.openxmlformats.org/drawingml/2006/table">
            <a:tbl>
              <a:tblPr/>
              <a:tblGrid>
                <a:gridCol w="4389120"/>
                <a:gridCol w="2926080"/>
                <a:gridCol w="3602736"/>
              </a:tblGrid>
              <a:tr h="510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83B40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车型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183B40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标准版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183B40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长续航版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3B40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示例售价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00" dirty="0">
                          <a:solidFill>
                            <a:srgbClr val="183B40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¥199,800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00" dirty="0">
                          <a:solidFill>
                            <a:srgbClr val="183B40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¥229,800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3B40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CLTC 续航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00" dirty="0">
                          <a:solidFill>
                            <a:srgbClr val="183B40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510 km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183B40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620 km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0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83B40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快充 10% 至 80%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00" dirty="0">
                          <a:solidFill>
                            <a:srgbClr val="183B40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未提供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900" dirty="0">
                          <a:solidFill>
                            <a:srgbClr val="183B40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18 分钟</a:t>
                      </a:r>
                      <a:endParaRPr lang="en-US" sz="19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28016" marR="128016" marT="91440" marB="91440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719320"/>
            <a:ext cx="10917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两版均为 2950 mm 轴距、520 L 后备厢。</a:t>
            </a:r>
            <a:endParaRPr lang="zh-CN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88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AERIS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88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8808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时间表为虚构演示设定。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92"/>
              </a:lnSpc>
              <a:buNone/>
            </a:pPr>
            <a:r>
              <a:rPr lang="zh-CN" altLang="en-US" sz="3200" dirty="0">
                <a:solidFill>
                  <a:srgbClr val="183B4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预约与交付安排</a:t>
            </a:r>
            <a:endParaRPr lang="zh-CN" sz="3200" dirty="0"/>
          </a:p>
        </p:txBody>
      </p:sp>
      <p:sp>
        <p:nvSpPr>
          <p:cNvPr id="6" name="Shape 4"/>
          <p:cNvSpPr/>
          <p:nvPr/>
        </p:nvSpPr>
        <p:spPr>
          <a:xfrm>
            <a:off x="749808" y="3136392"/>
            <a:ext cx="10607040" cy="0"/>
          </a:xfrm>
          <a:prstGeom prst="line">
            <a:avLst/>
          </a:prstGeom>
          <a:noFill/>
          <a:ln w="7620">
            <a:solidFill>
              <a:srgbClr val="C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3063240"/>
            <a:ext cx="146304" cy="146304"/>
          </a:xfrm>
          <a:prstGeom prst="rect">
            <a:avLst/>
          </a:prstGeom>
          <a:solidFill>
            <a:srgbClr val="28747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450592"/>
            <a:ext cx="3212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72"/>
              </a:lnSpc>
              <a:buNone/>
            </a:pPr>
            <a:r>
              <a:rPr lang="zh-CN" altLang="en-US" sz="2400" dirty="0">
                <a:solidFill>
                  <a:srgbClr val="287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21</a:t>
            </a:r>
            <a:endParaRPr lang="zh-CN" sz="2400" dirty="0"/>
          </a:p>
        </p:txBody>
      </p:sp>
      <p:sp>
        <p:nvSpPr>
          <p:cNvPr id="9" name="Text 7"/>
          <p:cNvSpPr/>
          <p:nvPr/>
        </p:nvSpPr>
        <p:spPr>
          <a:xfrm>
            <a:off x="749808" y="3511296"/>
            <a:ext cx="3212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88"/>
              </a:lnSpc>
              <a:buNone/>
            </a:pPr>
            <a:r>
              <a:rPr lang="zh-CN" altLang="en-US" sz="2100" b="1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开放预约</a:t>
            </a:r>
            <a:endParaRPr lang="zh-CN" sz="2100" dirty="0"/>
          </a:p>
        </p:txBody>
      </p:sp>
      <p:sp>
        <p:nvSpPr>
          <p:cNvPr id="10" name="Text 8"/>
          <p:cNvSpPr/>
          <p:nvPr/>
        </p:nvSpPr>
        <p:spPr>
          <a:xfrm>
            <a:off x="749808" y="4251960"/>
            <a:ext cx="3212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8"/>
              </a:lnSpc>
              <a:buNone/>
            </a:pPr>
            <a:r>
              <a:rPr lang="zh-CN" altLang="en-US" sz="1600" dirty="0">
                <a:solidFill>
                  <a:srgbClr val="68808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预约不收取费用。</a:t>
            </a:r>
            <a:endParaRPr lang="zh-CN" sz="1600" dirty="0"/>
          </a:p>
        </p:txBody>
      </p:sp>
      <p:sp>
        <p:nvSpPr>
          <p:cNvPr id="11" name="Shape 9"/>
          <p:cNvSpPr/>
          <p:nvPr/>
        </p:nvSpPr>
        <p:spPr>
          <a:xfrm>
            <a:off x="4346448" y="3063240"/>
            <a:ext cx="146304" cy="146304"/>
          </a:xfrm>
          <a:prstGeom prst="rect">
            <a:avLst/>
          </a:prstGeom>
          <a:solidFill>
            <a:srgbClr val="28747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6448" y="2450592"/>
            <a:ext cx="3212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72"/>
              </a:lnSpc>
              <a:buNone/>
            </a:pPr>
            <a:r>
              <a:rPr lang="zh-CN" altLang="en-US" sz="2400" dirty="0">
                <a:solidFill>
                  <a:srgbClr val="287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08</a:t>
            </a:r>
            <a:endParaRPr lang="zh-CN" sz="2400" dirty="0"/>
          </a:p>
        </p:txBody>
      </p:sp>
      <p:sp>
        <p:nvSpPr>
          <p:cNvPr id="13" name="Text 11"/>
          <p:cNvSpPr/>
          <p:nvPr/>
        </p:nvSpPr>
        <p:spPr>
          <a:xfrm>
            <a:off x="4346448" y="3511296"/>
            <a:ext cx="3212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88"/>
              </a:lnSpc>
              <a:buNone/>
            </a:pPr>
            <a:r>
              <a:rPr lang="zh-CN" altLang="en-US" sz="2100" b="1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门店体验</a:t>
            </a:r>
            <a:endParaRPr lang="zh-CN" sz="2100" dirty="0"/>
          </a:p>
        </p:txBody>
      </p:sp>
      <p:sp>
        <p:nvSpPr>
          <p:cNvPr id="14" name="Text 12"/>
          <p:cNvSpPr/>
          <p:nvPr/>
        </p:nvSpPr>
        <p:spPr>
          <a:xfrm>
            <a:off x="4346448" y="4251960"/>
            <a:ext cx="3212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8"/>
              </a:lnSpc>
              <a:buNone/>
            </a:pPr>
            <a:r>
              <a:rPr lang="zh-CN" altLang="en-US" sz="1600" dirty="0">
                <a:solidFill>
                  <a:srgbClr val="68808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具体门店名单尚未提供。</a:t>
            </a:r>
            <a:endParaRPr lang="zh-CN" sz="1600" dirty="0"/>
          </a:p>
        </p:txBody>
      </p:sp>
      <p:sp>
        <p:nvSpPr>
          <p:cNvPr id="15" name="Shape 13"/>
          <p:cNvSpPr/>
          <p:nvPr/>
        </p:nvSpPr>
        <p:spPr>
          <a:xfrm>
            <a:off x="7943088" y="3063240"/>
            <a:ext cx="146304" cy="146304"/>
          </a:xfrm>
          <a:prstGeom prst="rect">
            <a:avLst/>
          </a:prstGeom>
          <a:solidFill>
            <a:srgbClr val="28747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43088" y="2450592"/>
            <a:ext cx="3212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72"/>
              </a:lnSpc>
              <a:buNone/>
            </a:pPr>
            <a:r>
              <a:rPr lang="zh-CN" altLang="en-US" sz="2400" dirty="0">
                <a:solidFill>
                  <a:srgbClr val="287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01</a:t>
            </a:r>
            <a:endParaRPr lang="zh-CN" sz="2400" dirty="0"/>
          </a:p>
        </p:txBody>
      </p:sp>
      <p:sp>
        <p:nvSpPr>
          <p:cNvPr id="17" name="Text 15"/>
          <p:cNvSpPr/>
          <p:nvPr/>
        </p:nvSpPr>
        <p:spPr>
          <a:xfrm>
            <a:off x="7943088" y="3511296"/>
            <a:ext cx="3212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88"/>
              </a:lnSpc>
              <a:buNone/>
            </a:pPr>
            <a:r>
              <a:rPr lang="zh-CN" altLang="en-US" sz="2100" b="1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首批交付</a:t>
            </a:r>
            <a:endParaRPr lang="zh-CN" sz="2100" dirty="0"/>
          </a:p>
        </p:txBody>
      </p:sp>
      <p:sp>
        <p:nvSpPr>
          <p:cNvPr id="18" name="Text 16"/>
          <p:cNvSpPr/>
          <p:nvPr/>
        </p:nvSpPr>
        <p:spPr>
          <a:xfrm>
            <a:off x="7943088" y="4251960"/>
            <a:ext cx="3212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48"/>
              </a:lnSpc>
              <a:buNone/>
            </a:pPr>
            <a:r>
              <a:rPr lang="zh-CN" altLang="en-US" sz="1600" dirty="0">
                <a:solidFill>
                  <a:srgbClr val="68808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限示例指定区域，区域名单尚未</a:t>
            </a:r>
            <a:endParaRPr lang="zh-CN" sz="1600" dirty="0"/>
          </a:p>
          <a:p>
            <a:pPr indent="0" marL="0">
              <a:lnSpc>
                <a:spcPts val="2048"/>
              </a:lnSpc>
              <a:buNone/>
            </a:pPr>
            <a:r>
              <a:rPr lang="zh-CN" altLang="en-US" sz="1600" dirty="0">
                <a:solidFill>
                  <a:srgbClr val="68808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提供。</a:t>
            </a:r>
            <a:endParaRPr lang="zh-CN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688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AERIS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88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688084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虚构品牌与数据，仅作开源示例。配图由 AI 生成。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92"/>
              </a:lnSpc>
              <a:buNone/>
            </a:pPr>
            <a:r>
              <a:rPr lang="zh-CN" altLang="en-US" sz="3200" dirty="0">
                <a:solidFill>
                  <a:srgbClr val="183B40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整车与电池质保</a:t>
            </a:r>
            <a:endParaRPr lang="zh-CN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整车示例质保</a:t>
            </a:r>
            <a:endParaRPr lang="zh-CN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84"/>
              </a:lnSpc>
              <a:buNone/>
            </a:pPr>
            <a:r>
              <a:rPr lang="zh-CN" altLang="en-US" sz="28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5 年 / 120,000 km</a:t>
            </a:r>
            <a:endParaRPr lang="zh-CN" sz="2800" dirty="0"/>
          </a:p>
        </p:txBody>
      </p:sp>
      <p:sp>
        <p:nvSpPr>
          <p:cNvPr id="8" name="Text 6"/>
          <p:cNvSpPr/>
          <p:nvPr/>
        </p:nvSpPr>
        <p:spPr>
          <a:xfrm>
            <a:off x="6400800" y="2331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电池示例质保</a:t>
            </a:r>
            <a:endParaRPr lang="zh-CN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29260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84"/>
              </a:lnSpc>
              <a:buNone/>
            </a:pPr>
            <a:r>
              <a:rPr lang="zh-CN" altLang="en-US" sz="28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8 年 / 160,000 km</a:t>
            </a:r>
            <a:endParaRPr lang="zh-CN" sz="2800" dirty="0"/>
          </a:p>
        </p:txBody>
      </p:sp>
      <p:sp>
        <p:nvSpPr>
          <p:cNvPr id="10" name="Shape 8"/>
          <p:cNvSpPr/>
          <p:nvPr/>
        </p:nvSpPr>
        <p:spPr>
          <a:xfrm>
            <a:off x="685800" y="4937760"/>
            <a:ext cx="10789920" cy="0"/>
          </a:xfrm>
          <a:prstGeom prst="line">
            <a:avLst/>
          </a:prstGeom>
          <a:noFill/>
          <a:ln w="7620">
            <a:solidFill>
              <a:srgbClr val="C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53035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其他条款未提供，需要以最终正式说明为准。</a:t>
            </a:r>
            <a:endParaRPr lang="zh-CN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3840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以先到者为准</a:t>
            </a:r>
            <a:endParaRPr lang="zh-CN" sz="1800" dirty="0"/>
          </a:p>
        </p:txBody>
      </p:sp>
      <p:sp>
        <p:nvSpPr>
          <p:cNvPr id="13" name="Text 11"/>
          <p:cNvSpPr/>
          <p:nvPr/>
        </p:nvSpPr>
        <p:spPr>
          <a:xfrm>
            <a:off x="6400800" y="3840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4"/>
              </a:lnSpc>
              <a:buNone/>
            </a:pPr>
            <a:r>
              <a:rPr lang="zh-CN" altLang="en-US" sz="1800" dirty="0">
                <a:solidFill>
                  <a:srgbClr val="183B40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以先到者为准</a:t>
            </a:r>
            <a:endParaRPr lang="zh-CN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3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0"/>
              </a:lnSpc>
              <a:buNone/>
            </a:pPr>
            <a:r>
              <a:rPr lang="zh-CN" altLang="en-US" sz="1000" b="1" dirty="0">
                <a:solidFill>
                  <a:srgbClr val="D6E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AERIS</a:t>
            </a:r>
            <a:endParaRPr lang="zh-CN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7336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D6E7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zh-CN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6336792"/>
            <a:ext cx="10149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2"/>
              </a:lnSpc>
              <a:buNone/>
            </a:pPr>
            <a:r>
              <a:rPr lang="zh-CN" altLang="en-US" sz="900" dirty="0">
                <a:solidFill>
                  <a:srgbClr val="D6E7E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虚构品牌与数据，仅作开源示例。配图由 AI 生成。</a:t>
            </a:r>
            <a:endParaRPr lang="zh-CN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52"/>
              </a:lnSpc>
              <a:buNone/>
            </a:pPr>
            <a:r>
              <a:rPr lang="zh-CN" altLang="en-US" sz="420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AERIS ONE</a:t>
            </a:r>
            <a:endParaRPr lang="zh-CN" sz="4200" dirty="0"/>
          </a:p>
        </p:txBody>
      </p:sp>
      <p:sp>
        <p:nvSpPr>
          <p:cNvPr id="6" name="Text 4"/>
          <p:cNvSpPr/>
          <p:nvPr/>
        </p:nvSpPr>
        <p:spPr>
          <a:xfrm>
            <a:off x="685800" y="276148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572"/>
              </a:lnSpc>
              <a:buNone/>
            </a:pPr>
            <a:r>
              <a:rPr lang="zh-CN" altLang="en-US" sz="6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¥199,800 起</a:t>
            </a:r>
            <a:endParaRPr lang="zh-CN" sz="62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9875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88"/>
              </a:lnSpc>
              <a:buNone/>
            </a:pPr>
            <a:r>
              <a:rPr lang="zh-CN" altLang="en-US" sz="2100" dirty="0">
                <a:solidFill>
                  <a:srgbClr val="D6E7E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标准版示例售价。长续航版 ¥229,800。</a:t>
            </a:r>
            <a:endParaRPr lang="zh-CN" sz="2100" dirty="0"/>
          </a:p>
          <a:p>
            <a:pPr indent="0" marL="0">
              <a:lnSpc>
                <a:spcPts val="2688"/>
              </a:lnSpc>
              <a:buNone/>
            </a:pPr>
            <a:r>
              <a:rPr lang="zh-CN" altLang="en-US" sz="2100" dirty="0">
                <a:solidFill>
                  <a:srgbClr val="D6E7E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10 月 21 日起免费预约。</a:t>
            </a:r>
            <a:endParaRPr lang="zh-CN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ng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AERIS ONE 新车发布会</dc:title>
  <dc:subject/>
  <dc:creator>PPT Design &amp; Polish</dc:creator>
  <cp:lastModifiedBy>PPT Design &amp; Polish</cp:lastModifiedBy>
  <cp:revision>1</cp:revision>
  <dcterms:created xsi:type="dcterms:W3CDTF">2026-10-21T15:07:23Z</dcterms:created>
  <dcterms:modified xsi:type="dcterms:W3CDTF">2026-10-21T15:07:23Z</dcterms:modified>
</cp:coreProperties>
</file>