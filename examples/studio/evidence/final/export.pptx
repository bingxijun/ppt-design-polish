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试访偏好</c:v>
                </c:pt>
              </c:strCache>
            </c:strRef>
          </c:tx>
          <c:spPr>
            <a:solidFill>
              <a:srgbClr val="8D3927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500" u="none">
                    <a:solidFill>
                      <a:srgbClr val="29252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D392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9252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92521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减少说明文字</c:v>
                  </c:pt>
                  <c:pt idx="1">
                    <c:v>增加停留位置</c:v>
                  </c:pt>
                  <c:pt idx="2">
                    <c:v>增加导览讲解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60</c:v>
                </c:pt>
                <c:pt idx="1">
                  <c:v>25</c:v>
                </c:pt>
                <c:pt idx="2">
                  <c:v>15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500" u="none">
                  <a:solidFill>
                    <a:srgbClr val="29252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292521"/>
                </a:solidFill>
                <a:latin typeface="Hiragino Sans GB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5"/>
          <c:min val="0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E655C"/>
                </a:solidFill>
                <a:latin typeface="Hiragino Sans GB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heikikun/Documents/skills/ppt-design-polish/examples/studio/assets/gallery.jpg">    </p:cNvPr>
          <p:cNvPicPr>
            <a:picLocks noChangeAspect="1"/>
          </p:cNvPicPr>
          <p:nvPr/>
        </p:nvPicPr>
        <p:blipFill>
          <a:blip r:embed="rId1"/>
          <a:srcRect l="0" r="0" t="27" b="27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1234440"/>
            <a:ext cx="4572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66"/>
              </a:lnSpc>
              <a:buNone/>
            </a:pPr>
            <a:r>
              <a:rPr lang="zh-CN" altLang="en-US" sz="6100" dirty="0">
                <a:solidFill>
                  <a:srgbClr val="292521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静观</a:t>
            </a:r>
            <a:endParaRPr lang="zh-CN" sz="6100" dirty="0"/>
          </a:p>
          <a:p>
            <a:pPr algn="l" indent="0" marL="0">
              <a:lnSpc>
                <a:spcPts val="6466"/>
              </a:lnSpc>
              <a:buNone/>
            </a:pPr>
            <a:r>
              <a:rPr lang="zh-CN" altLang="en-US" sz="6100" dirty="0">
                <a:solidFill>
                  <a:srgbClr val="292521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之间</a:t>
            </a:r>
            <a:endParaRPr lang="zh-CN" sz="6100" dirty="0"/>
          </a:p>
        </p:txBody>
      </p:sp>
      <p:sp>
        <p:nvSpPr>
          <p:cNvPr id="4" name="Text 1"/>
          <p:cNvSpPr/>
          <p:nvPr/>
        </p:nvSpPr>
        <p:spPr>
          <a:xfrm>
            <a:off x="731520" y="39776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2"/>
              </a:lnSpc>
              <a:buNone/>
            </a:pPr>
            <a:r>
              <a:rPr lang="zh-CN" altLang="en-US" sz="1900" dirty="0">
                <a:solidFill>
                  <a:srgbClr val="2925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slower way of seeing</a:t>
            </a:r>
            <a:endParaRPr lang="zh-CN" sz="1900" dirty="0"/>
          </a:p>
        </p:txBody>
      </p:sp>
      <p:sp>
        <p:nvSpPr>
          <p:cNvPr id="5" name="Text 2"/>
          <p:cNvSpPr/>
          <p:nvPr/>
        </p:nvSpPr>
        <p:spPr>
          <a:xfrm>
            <a:off x="731520" y="49834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4"/>
              </a:lnSpc>
              <a:buNone/>
            </a:pPr>
            <a:r>
              <a:rPr lang="zh-CN" altLang="en-US" sz="1800" dirty="0">
                <a:solidFill>
                  <a:srgbClr val="292521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秋季展览提案 · 策展委员会阅读稿</a:t>
            </a:r>
            <a:endParaRPr lang="zh-CN" sz="1800" dirty="0"/>
          </a:p>
        </p:txBody>
      </p:sp>
      <p:sp>
        <p:nvSpPr>
          <p:cNvPr id="6" name="Text 3"/>
          <p:cNvSpPr/>
          <p:nvPr/>
        </p:nvSpPr>
        <p:spPr>
          <a:xfrm>
            <a:off x="594360" y="256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80"/>
              </a:lnSpc>
              <a:buNone/>
            </a:pPr>
            <a:r>
              <a:rPr lang="zh-CN" altLang="en-US" sz="1000" b="1" dirty="0">
                <a:solidFill>
                  <a:srgbClr val="6E6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静观之间 / CURATORIAL PROPOSAL</a:t>
            </a:r>
            <a:endParaRPr lang="zh-CN" sz="1000" dirty="0"/>
          </a:p>
        </p:txBody>
      </p:sp>
      <p:sp>
        <p:nvSpPr>
          <p:cNvPr id="7" name="Text 4"/>
          <p:cNvSpPr/>
          <p:nvPr/>
        </p:nvSpPr>
        <p:spPr>
          <a:xfrm>
            <a:off x="11155680" y="6373368"/>
            <a:ext cx="429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2"/>
              </a:lnSpc>
              <a:buNone/>
            </a:pPr>
            <a:r>
              <a:rPr lang="zh-CN" altLang="en-US" sz="900" dirty="0">
                <a:solidFill>
                  <a:srgbClr val="6E6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zh-CN" sz="900" dirty="0"/>
          </a:p>
        </p:txBody>
      </p:sp>
      <p:sp>
        <p:nvSpPr>
          <p:cNvPr id="8" name="Text 5"/>
          <p:cNvSpPr/>
          <p:nvPr/>
        </p:nvSpPr>
        <p:spPr>
          <a:xfrm>
            <a:off x="594360" y="6336792"/>
            <a:ext cx="101498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2"/>
              </a:lnSpc>
              <a:buNone/>
            </a:pPr>
            <a:r>
              <a:rPr lang="zh-CN" altLang="en-US" sz="900" dirty="0">
                <a:solidFill>
                  <a:srgbClr val="6E655C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虚构展览与数据，仅作设计示例。空间配图由 AI 生成。</a:t>
            </a:r>
            <a:endParaRPr lang="zh-CN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0058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4"/>
              </a:lnSpc>
              <a:buNone/>
            </a:pPr>
            <a:r>
              <a:rPr lang="zh-CN" altLang="en-US" sz="3400" dirty="0">
                <a:solidFill>
                  <a:srgbClr val="292521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把观看时间还给观众</a:t>
            </a:r>
            <a:endParaRPr lang="zh-CN" sz="3400" dirty="0"/>
          </a:p>
        </p:txBody>
      </p:sp>
      <p:sp>
        <p:nvSpPr>
          <p:cNvPr id="3" name="Text 1"/>
          <p:cNvSpPr/>
          <p:nvPr/>
        </p:nvSpPr>
        <p:spPr>
          <a:xfrm>
            <a:off x="685800" y="2423160"/>
            <a:ext cx="5166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86"/>
              </a:lnSpc>
              <a:buNone/>
            </a:pPr>
            <a:r>
              <a:rPr lang="zh-CN" altLang="en-US" sz="3100" dirty="0">
                <a:solidFill>
                  <a:srgbClr val="292521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先看作品，</a:t>
            </a:r>
            <a:endParaRPr lang="zh-CN" sz="3100" dirty="0"/>
          </a:p>
          <a:p>
            <a:pPr algn="l" indent="0" marL="0">
              <a:lnSpc>
                <a:spcPts val="3286"/>
              </a:lnSpc>
              <a:buNone/>
            </a:pPr>
            <a:r>
              <a:rPr lang="zh-CN" altLang="en-US" sz="3100" dirty="0">
                <a:solidFill>
                  <a:srgbClr val="292521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再决定是否阅读导览。</a:t>
            </a:r>
            <a:endParaRPr lang="zh-CN" sz="3100" dirty="0"/>
          </a:p>
        </p:txBody>
      </p:sp>
      <p:sp>
        <p:nvSpPr>
          <p:cNvPr id="4" name="Text 2"/>
          <p:cNvSpPr/>
          <p:nvPr/>
        </p:nvSpPr>
        <p:spPr>
          <a:xfrm>
            <a:off x="6675120" y="242316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88"/>
              </a:lnSpc>
              <a:buNone/>
            </a:pPr>
            <a:r>
              <a:rPr lang="zh-CN" altLang="en-US" sz="2100" b="1" dirty="0">
                <a:solidFill>
                  <a:srgbClr val="292521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观察</a:t>
            </a:r>
            <a:endParaRPr lang="zh-CN" sz="2100" dirty="0"/>
          </a:p>
        </p:txBody>
      </p:sp>
      <p:sp>
        <p:nvSpPr>
          <p:cNvPr id="5" name="Text 3"/>
          <p:cNvSpPr/>
          <p:nvPr/>
        </p:nvSpPr>
        <p:spPr>
          <a:xfrm>
            <a:off x="6675120" y="292608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4"/>
              </a:lnSpc>
              <a:buNone/>
            </a:pPr>
            <a:r>
              <a:rPr lang="zh-CN" altLang="en-US" sz="1800" dirty="0">
                <a:solidFill>
                  <a:srgbClr val="292521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关注作品与光线。</a:t>
            </a:r>
            <a:endParaRPr lang="zh-CN" sz="1800" dirty="0"/>
          </a:p>
        </p:txBody>
      </p:sp>
      <p:sp>
        <p:nvSpPr>
          <p:cNvPr id="6" name="Text 4"/>
          <p:cNvSpPr/>
          <p:nvPr/>
        </p:nvSpPr>
        <p:spPr>
          <a:xfrm>
            <a:off x="6675120" y="365760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88"/>
              </a:lnSpc>
              <a:buNone/>
            </a:pPr>
            <a:r>
              <a:rPr lang="zh-CN" altLang="en-US" sz="2100" b="1" dirty="0">
                <a:solidFill>
                  <a:srgbClr val="292521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停留</a:t>
            </a:r>
            <a:endParaRPr lang="zh-CN" sz="2100" dirty="0"/>
          </a:p>
        </p:txBody>
      </p:sp>
      <p:sp>
        <p:nvSpPr>
          <p:cNvPr id="7" name="Text 5"/>
          <p:cNvSpPr/>
          <p:nvPr/>
        </p:nvSpPr>
        <p:spPr>
          <a:xfrm>
            <a:off x="6675120" y="416052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4"/>
              </a:lnSpc>
              <a:buNone/>
            </a:pPr>
            <a:r>
              <a:rPr lang="zh-CN" altLang="en-US" sz="1800" dirty="0">
                <a:solidFill>
                  <a:srgbClr val="292521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提供坐下观看的位置。</a:t>
            </a:r>
            <a:endParaRPr lang="zh-CN" sz="1800" dirty="0"/>
          </a:p>
        </p:txBody>
      </p:sp>
      <p:sp>
        <p:nvSpPr>
          <p:cNvPr id="8" name="Text 6"/>
          <p:cNvSpPr/>
          <p:nvPr/>
        </p:nvSpPr>
        <p:spPr>
          <a:xfrm>
            <a:off x="6675120" y="489204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88"/>
              </a:lnSpc>
              <a:buNone/>
            </a:pPr>
            <a:r>
              <a:rPr lang="zh-CN" altLang="en-US" sz="2100" b="1" dirty="0">
                <a:solidFill>
                  <a:srgbClr val="292521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回望</a:t>
            </a:r>
            <a:endParaRPr lang="zh-CN" sz="2100" dirty="0"/>
          </a:p>
        </p:txBody>
      </p:sp>
      <p:sp>
        <p:nvSpPr>
          <p:cNvPr id="9" name="Text 7"/>
          <p:cNvSpPr/>
          <p:nvPr/>
        </p:nvSpPr>
        <p:spPr>
          <a:xfrm>
            <a:off x="6675120" y="539496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4"/>
              </a:lnSpc>
              <a:buNone/>
            </a:pPr>
            <a:r>
              <a:rPr lang="zh-CN" altLang="en-US" sz="1800" dirty="0">
                <a:solidFill>
                  <a:srgbClr val="292521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用短文连接观看经验。</a:t>
            </a:r>
            <a:endParaRPr lang="zh-CN" sz="1800" dirty="0"/>
          </a:p>
        </p:txBody>
      </p:sp>
      <p:sp>
        <p:nvSpPr>
          <p:cNvPr id="10" name="Text 8"/>
          <p:cNvSpPr/>
          <p:nvPr/>
        </p:nvSpPr>
        <p:spPr>
          <a:xfrm>
            <a:off x="594360" y="256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80"/>
              </a:lnSpc>
              <a:buNone/>
            </a:pPr>
            <a:r>
              <a:rPr lang="zh-CN" altLang="en-US" sz="1000" b="1" dirty="0">
                <a:solidFill>
                  <a:srgbClr val="6E6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静观之间 / CURATORIAL PROPOSAL</a:t>
            </a:r>
            <a:endParaRPr lang="zh-CN" sz="1000" dirty="0"/>
          </a:p>
        </p:txBody>
      </p:sp>
      <p:sp>
        <p:nvSpPr>
          <p:cNvPr id="11" name="Text 9"/>
          <p:cNvSpPr/>
          <p:nvPr/>
        </p:nvSpPr>
        <p:spPr>
          <a:xfrm>
            <a:off x="11155680" y="6373368"/>
            <a:ext cx="429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2"/>
              </a:lnSpc>
              <a:buNone/>
            </a:pPr>
            <a:r>
              <a:rPr lang="zh-CN" altLang="en-US" sz="900" dirty="0">
                <a:solidFill>
                  <a:srgbClr val="6E6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zh-CN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6336792"/>
            <a:ext cx="101498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2"/>
              </a:lnSpc>
              <a:buNone/>
            </a:pPr>
            <a:r>
              <a:rPr lang="zh-CN" altLang="en-US" sz="900" dirty="0">
                <a:solidFill>
                  <a:srgbClr val="6E655C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三个环节组织内容，不是观众必须完成的任务。</a:t>
            </a:r>
            <a:endParaRPr lang="zh-CN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0058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4"/>
              </a:lnSpc>
              <a:buNone/>
            </a:pPr>
            <a:r>
              <a:rPr lang="zh-CN" altLang="en-US" sz="3400" dirty="0">
                <a:solidFill>
                  <a:srgbClr val="292521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多数试访者希望减少说明文字</a:t>
            </a:r>
            <a:endParaRPr lang="zh-CN" sz="3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685800" y="2331720"/>
          <a:ext cx="731520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8275320" y="2423160"/>
            <a:ext cx="33375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88"/>
              </a:lnSpc>
              <a:buNone/>
            </a:pPr>
            <a:r>
              <a:rPr lang="zh-CN" altLang="en-US" sz="2100" dirty="0">
                <a:solidFill>
                  <a:srgbClr val="292521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60% 希望减少说明文字。</a:t>
            </a:r>
            <a:endParaRPr lang="zh-CN" sz="2100" dirty="0"/>
          </a:p>
          <a:p>
            <a:pPr algn="l" indent="0" marL="0">
              <a:lnSpc>
                <a:spcPts val="2688"/>
              </a:lnSpc>
              <a:buNone/>
            </a:pPr>
            <a:r>
              <a:rPr lang="zh-CN" altLang="en-US" sz="2100" dirty="0">
                <a:solidFill>
                  <a:srgbClr val="292521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这是虚构试访反馈，</a:t>
            </a:r>
            <a:endParaRPr lang="zh-CN" sz="2100" dirty="0"/>
          </a:p>
          <a:p>
            <a:pPr algn="l" indent="0" marL="0">
              <a:lnSpc>
                <a:spcPts val="2688"/>
              </a:lnSpc>
              <a:buNone/>
            </a:pPr>
            <a:r>
              <a:rPr lang="zh-CN" altLang="en-US" sz="2100" dirty="0">
                <a:solidFill>
                  <a:srgbClr val="292521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不代表真实观众群体。</a:t>
            </a:r>
            <a:endParaRPr lang="zh-CN" sz="2100" dirty="0"/>
          </a:p>
        </p:txBody>
      </p:sp>
      <p:sp>
        <p:nvSpPr>
          <p:cNvPr id="5" name="Text 2"/>
          <p:cNvSpPr/>
          <p:nvPr/>
        </p:nvSpPr>
        <p:spPr>
          <a:xfrm>
            <a:off x="594360" y="256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80"/>
              </a:lnSpc>
              <a:buNone/>
            </a:pPr>
            <a:r>
              <a:rPr lang="zh-CN" altLang="en-US" sz="1000" b="1" dirty="0">
                <a:solidFill>
                  <a:srgbClr val="6E6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静观之间 / CURATORIAL PROPOSAL</a:t>
            </a:r>
            <a:endParaRPr lang="zh-CN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373368"/>
            <a:ext cx="429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2"/>
              </a:lnSpc>
              <a:buNone/>
            </a:pPr>
            <a:r>
              <a:rPr lang="zh-CN" altLang="en-US" sz="900" dirty="0">
                <a:solidFill>
                  <a:srgbClr val="6E6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zh-CN" sz="900" dirty="0"/>
          </a:p>
        </p:txBody>
      </p:sp>
      <p:sp>
        <p:nvSpPr>
          <p:cNvPr id="7" name="Text 4"/>
          <p:cNvSpPr/>
          <p:nvPr/>
        </p:nvSpPr>
        <p:spPr>
          <a:xfrm>
            <a:off x="594360" y="6336792"/>
            <a:ext cx="101498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2"/>
              </a:lnSpc>
              <a:buNone/>
            </a:pPr>
            <a:r>
              <a:rPr lang="zh-CN" altLang="en-US" sz="900" dirty="0">
                <a:solidFill>
                  <a:srgbClr val="6E655C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虚构试访问卷，n = 120，单选；单位：%。仅演示比较方法，不是研究结论。</a:t>
            </a:r>
            <a:endParaRPr lang="zh-CN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0058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4"/>
              </a:lnSpc>
              <a:buNone/>
            </a:pPr>
            <a:r>
              <a:rPr lang="zh-CN" altLang="en-US" sz="3400" dirty="0">
                <a:solidFill>
                  <a:srgbClr val="292521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让动线支持观看节奏</a:t>
            </a:r>
            <a:endParaRPr lang="zh-CN" sz="3400" dirty="0"/>
          </a:p>
        </p:txBody>
      </p:sp>
      <p:sp>
        <p:nvSpPr>
          <p:cNvPr id="3" name="Text 1"/>
          <p:cNvSpPr/>
          <p:nvPr/>
        </p:nvSpPr>
        <p:spPr>
          <a:xfrm>
            <a:off x="685800" y="25603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12"/>
              </a:lnSpc>
              <a:buNone/>
            </a:pPr>
            <a:r>
              <a:rPr lang="zh-CN" altLang="en-US" sz="2900" dirty="0">
                <a:solidFill>
                  <a:srgbClr val="292521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进入展厅</a:t>
            </a:r>
            <a:endParaRPr lang="zh-CN" sz="2900" dirty="0"/>
          </a:p>
        </p:txBody>
      </p:sp>
      <p:sp>
        <p:nvSpPr>
          <p:cNvPr id="4" name="Text 2"/>
          <p:cNvSpPr/>
          <p:nvPr/>
        </p:nvSpPr>
        <p:spPr>
          <a:xfrm>
            <a:off x="685800" y="347472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0"/>
              </a:lnSpc>
              <a:buNone/>
            </a:pPr>
            <a:r>
              <a:rPr lang="zh-CN" altLang="en-US" sz="2000" dirty="0">
                <a:solidFill>
                  <a:srgbClr val="292521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保留作品与视线空间。</a:t>
            </a:r>
            <a:endParaRPr lang="zh-CN" sz="2000" dirty="0"/>
          </a:p>
        </p:txBody>
      </p:sp>
      <p:sp>
        <p:nvSpPr>
          <p:cNvPr id="5" name="Text 3"/>
          <p:cNvSpPr/>
          <p:nvPr/>
        </p:nvSpPr>
        <p:spPr>
          <a:xfrm>
            <a:off x="4572000" y="34747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12"/>
              </a:lnSpc>
              <a:buNone/>
            </a:pPr>
            <a:r>
              <a:rPr lang="zh-CN" altLang="en-US" sz="2900" dirty="0">
                <a:solidFill>
                  <a:srgbClr val="292521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坐下观看</a:t>
            </a:r>
            <a:endParaRPr lang="zh-CN" sz="2900" dirty="0"/>
          </a:p>
        </p:txBody>
      </p:sp>
      <p:sp>
        <p:nvSpPr>
          <p:cNvPr id="6" name="Text 4"/>
          <p:cNvSpPr/>
          <p:nvPr/>
        </p:nvSpPr>
        <p:spPr>
          <a:xfrm>
            <a:off x="4572000" y="438912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0"/>
              </a:lnSpc>
              <a:buNone/>
            </a:pPr>
            <a:r>
              <a:rPr lang="zh-CN" altLang="en-US" sz="2000" dirty="0">
                <a:solidFill>
                  <a:srgbClr val="292521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座椅不占通道。</a:t>
            </a:r>
            <a:endParaRPr lang="zh-CN" sz="2000" dirty="0"/>
          </a:p>
        </p:txBody>
      </p:sp>
      <p:sp>
        <p:nvSpPr>
          <p:cNvPr id="7" name="Text 5"/>
          <p:cNvSpPr/>
          <p:nvPr/>
        </p:nvSpPr>
        <p:spPr>
          <a:xfrm>
            <a:off x="8595360" y="25603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12"/>
              </a:lnSpc>
              <a:buNone/>
            </a:pPr>
            <a:r>
              <a:rPr lang="zh-CN" altLang="en-US" sz="2900" dirty="0">
                <a:solidFill>
                  <a:srgbClr val="292521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离开展厅</a:t>
            </a:r>
            <a:endParaRPr lang="zh-CN" sz="2900" dirty="0"/>
          </a:p>
        </p:txBody>
      </p:sp>
      <p:sp>
        <p:nvSpPr>
          <p:cNvPr id="8" name="Text 6"/>
          <p:cNvSpPr/>
          <p:nvPr/>
        </p:nvSpPr>
        <p:spPr>
          <a:xfrm>
            <a:off x="8595360" y="347472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0"/>
              </a:lnSpc>
              <a:buNone/>
            </a:pPr>
            <a:r>
              <a:rPr lang="zh-CN" altLang="en-US" sz="2000" dirty="0">
                <a:solidFill>
                  <a:srgbClr val="292521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提供简短回望文字。</a:t>
            </a:r>
            <a:endParaRPr lang="zh-CN" sz="2000" dirty="0"/>
          </a:p>
        </p:txBody>
      </p:sp>
      <p:sp>
        <p:nvSpPr>
          <p:cNvPr id="9" name="Shape 7"/>
          <p:cNvSpPr/>
          <p:nvPr/>
        </p:nvSpPr>
        <p:spPr>
          <a:xfrm>
            <a:off x="3291840" y="3063240"/>
            <a:ext cx="1005840" cy="640080"/>
          </a:xfrm>
          <a:prstGeom prst="line">
            <a:avLst/>
          </a:prstGeom>
          <a:noFill/>
          <a:ln w="12700">
            <a:solidFill>
              <a:srgbClr val="CFC5B9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 flipV="1">
            <a:off x="7543800" y="3063240"/>
            <a:ext cx="914400" cy="640080"/>
          </a:xfrm>
          <a:prstGeom prst="line">
            <a:avLst/>
          </a:prstGeom>
          <a:noFill/>
          <a:ln w="12700">
            <a:solidFill>
              <a:srgbClr val="CFC5B9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594360" y="256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80"/>
              </a:lnSpc>
              <a:buNone/>
            </a:pPr>
            <a:r>
              <a:rPr lang="zh-CN" altLang="en-US" sz="1000" b="1" dirty="0">
                <a:solidFill>
                  <a:srgbClr val="6E6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静观之间 / CURATORIAL PROPOSAL</a:t>
            </a:r>
            <a:endParaRPr lang="zh-CN" sz="1000" dirty="0"/>
          </a:p>
        </p:txBody>
      </p:sp>
      <p:sp>
        <p:nvSpPr>
          <p:cNvPr id="12" name="Text 10"/>
          <p:cNvSpPr/>
          <p:nvPr/>
        </p:nvSpPr>
        <p:spPr>
          <a:xfrm>
            <a:off x="11155680" y="6373368"/>
            <a:ext cx="429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2"/>
              </a:lnSpc>
              <a:buNone/>
            </a:pPr>
            <a:r>
              <a:rPr lang="zh-CN" altLang="en-US" sz="900" dirty="0">
                <a:solidFill>
                  <a:srgbClr val="6E6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zh-CN" sz="900" dirty="0"/>
          </a:p>
        </p:txBody>
      </p:sp>
      <p:sp>
        <p:nvSpPr>
          <p:cNvPr id="13" name="Text 11"/>
          <p:cNvSpPr/>
          <p:nvPr/>
        </p:nvSpPr>
        <p:spPr>
          <a:xfrm>
            <a:off x="594360" y="6336792"/>
            <a:ext cx="101498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2"/>
              </a:lnSpc>
              <a:buNone/>
            </a:pPr>
            <a:r>
              <a:rPr lang="zh-CN" altLang="en-US" sz="900" dirty="0">
                <a:solidFill>
                  <a:srgbClr val="6E655C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概念动线示意，非实际建筑平面图；尺寸、容量与参观时长未提供。</a:t>
            </a:r>
            <a:endParaRPr lang="zh-CN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0058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4"/>
              </a:lnSpc>
              <a:buNone/>
            </a:pPr>
            <a:r>
              <a:rPr lang="zh-CN" altLang="en-US" sz="3400" dirty="0">
                <a:solidFill>
                  <a:srgbClr val="292521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五周筹备，开放前完成两轮检查</a:t>
            </a:r>
            <a:endParaRPr lang="zh-CN" sz="3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194560"/>
          <a:ext cx="10789920" cy="2550160"/>
        </p:xfrm>
        <a:graphic>
          <a:graphicData uri="http://schemas.openxmlformats.org/drawingml/2006/table">
            <a:tbl>
              <a:tblPr/>
              <a:tblGrid>
                <a:gridCol w="1188720"/>
                <a:gridCol w="1828800"/>
                <a:gridCol w="7772400"/>
              </a:tblGrid>
              <a:tr h="510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rgbClr val="292521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阶段</a:t>
                      </a:r>
                      <a:endParaRPr lang="en-US" sz="190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28016" marR="128016" marT="91440" marB="91440" anchor="mid">
                    <a:lnL w="0" cap="flat" cmpd="sng" algn="ctr">
                      <a:solidFill>
                        <a:srgbClr val="F4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4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F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F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rgbClr val="292521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时间</a:t>
                      </a:r>
                      <a:endParaRPr lang="en-US" sz="190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28016" marR="128016" marT="91440" marB="91440" anchor="mid">
                    <a:lnL w="0" cap="flat" cmpd="sng" algn="ctr">
                      <a:solidFill>
                        <a:srgbClr val="F4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4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F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F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rgbClr val="292521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交付检查</a:t>
                      </a:r>
                      <a:endParaRPr lang="en-US" sz="190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28016" marR="128016" marT="91440" marB="91440" anchor="mid">
                    <a:lnL w="0" cap="flat" cmpd="sng" algn="ctr">
                      <a:solidFill>
                        <a:srgbClr val="F4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4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F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F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E8"/>
                    </a:solidFill>
                  </a:tcPr>
                </a:tc>
              </a:tr>
              <a:tr h="510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292521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空间</a:t>
                      </a:r>
                      <a:endParaRPr lang="en-US" sz="190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28016" marR="128016" marT="91440" marB="91440" anchor="mid">
                    <a:lnL w="0" cap="flat" cmpd="sng" algn="ctr">
                      <a:solidFill>
                        <a:srgbClr val="F4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4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F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F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292521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第 1—2 周</a:t>
                      </a:r>
                      <a:endParaRPr lang="en-US" sz="190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28016" marR="128016" marT="91440" marB="91440" anchor="mid">
                    <a:lnL w="0" cap="flat" cmpd="sng" algn="ctr">
                      <a:solidFill>
                        <a:srgbClr val="F4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4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F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F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292521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完成灯位与通道检查；座椅不占通道。</a:t>
                      </a:r>
                      <a:endParaRPr lang="en-US" sz="190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28016" marR="128016" marT="91440" marB="91440" anchor="mid">
                    <a:lnL w="0" cap="flat" cmpd="sng" algn="ctr">
                      <a:solidFill>
                        <a:srgbClr val="F4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4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F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F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E8"/>
                    </a:solidFill>
                  </a:tcPr>
                </a:tc>
              </a:tr>
              <a:tr h="510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292521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内容</a:t>
                      </a:r>
                      <a:endParaRPr lang="en-US" sz="190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28016" marR="128016" marT="91440" marB="91440" anchor="mid">
                    <a:lnL w="0" cap="flat" cmpd="sng" algn="ctr">
                      <a:solidFill>
                        <a:srgbClr val="F4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4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F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F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292521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第 3 周</a:t>
                      </a:r>
                      <a:endParaRPr lang="en-US" sz="190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28016" marR="128016" marT="91440" marB="91440" anchor="mid">
                    <a:lnL w="0" cap="flat" cmpd="sng" algn="ctr">
                      <a:solidFill>
                        <a:srgbClr val="F4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4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F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F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292521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完成导览短文与大字版，保留复核记录。</a:t>
                      </a:r>
                      <a:endParaRPr lang="en-US" sz="190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28016" marR="128016" marT="91440" marB="91440" anchor="mid">
                    <a:lnL w="0" cap="flat" cmpd="sng" algn="ctr">
                      <a:solidFill>
                        <a:srgbClr val="F4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4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F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F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E8"/>
                    </a:solidFill>
                  </a:tcPr>
                </a:tc>
              </a:tr>
              <a:tr h="510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292521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试运行</a:t>
                      </a:r>
                      <a:endParaRPr lang="en-US" sz="190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28016" marR="128016" marT="91440" marB="91440" anchor="mid">
                    <a:lnL w="0" cap="flat" cmpd="sng" algn="ctr">
                      <a:solidFill>
                        <a:srgbClr val="F4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4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F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F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292521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第 4 周</a:t>
                      </a:r>
                      <a:endParaRPr lang="en-US" sz="190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28016" marR="128016" marT="91440" marB="91440" anchor="mid">
                    <a:lnL w="0" cap="flat" cmpd="sng" algn="ctr">
                      <a:solidFill>
                        <a:srgbClr val="F4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4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F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F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292521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先检查标识可读性，再检查参观路线。</a:t>
                      </a:r>
                      <a:endParaRPr lang="en-US" sz="190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28016" marR="128016" marT="91440" marB="91440" anchor="mid">
                    <a:lnL w="0" cap="flat" cmpd="sng" algn="ctr">
                      <a:solidFill>
                        <a:srgbClr val="F4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4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F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F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E8"/>
                    </a:solidFill>
                  </a:tcPr>
                </a:tc>
              </a:tr>
              <a:tr h="510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292521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开放</a:t>
                      </a:r>
                      <a:endParaRPr lang="en-US" sz="190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28016" marR="128016" marT="91440" marB="91440" anchor="mid">
                    <a:lnL w="0" cap="flat" cmpd="sng" algn="ctr">
                      <a:solidFill>
                        <a:srgbClr val="F4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4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F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F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292521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第 5 周</a:t>
                      </a:r>
                      <a:endParaRPr lang="en-US" sz="190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28016" marR="128016" marT="91440" marB="91440" anchor="mid">
                    <a:lnL w="0" cap="flat" cmpd="sng" algn="ctr">
                      <a:solidFill>
                        <a:srgbClr val="F4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4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F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F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292521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排班确认后开放，具体日期另行公布。</a:t>
                      </a:r>
                      <a:endParaRPr lang="en-US" sz="190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28016" marR="128016" marT="91440" marB="91440" anchor="mid">
                    <a:lnL w="0" cap="flat" cmpd="sng" algn="ctr">
                      <a:solidFill>
                        <a:srgbClr val="F4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4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F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F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E8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94360" y="256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80"/>
              </a:lnSpc>
              <a:buNone/>
            </a:pPr>
            <a:r>
              <a:rPr lang="zh-CN" altLang="en-US" sz="1000" b="1" dirty="0">
                <a:solidFill>
                  <a:srgbClr val="6E6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静观之间 / CURATORIAL PROPOSAL</a:t>
            </a:r>
            <a:endParaRPr lang="zh-CN" sz="1000" dirty="0"/>
          </a:p>
        </p:txBody>
      </p:sp>
      <p:sp>
        <p:nvSpPr>
          <p:cNvPr id="5" name="Text 2"/>
          <p:cNvSpPr/>
          <p:nvPr/>
        </p:nvSpPr>
        <p:spPr>
          <a:xfrm>
            <a:off x="11155680" y="6373368"/>
            <a:ext cx="429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2"/>
              </a:lnSpc>
              <a:buNone/>
            </a:pPr>
            <a:r>
              <a:rPr lang="zh-CN" altLang="en-US" sz="900" dirty="0">
                <a:solidFill>
                  <a:srgbClr val="6E6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zh-CN" sz="900" dirty="0"/>
          </a:p>
        </p:txBody>
      </p:sp>
      <p:sp>
        <p:nvSpPr>
          <p:cNvPr id="6" name="Text 3"/>
          <p:cNvSpPr/>
          <p:nvPr/>
        </p:nvSpPr>
        <p:spPr>
          <a:xfrm>
            <a:off x="594360" y="6336792"/>
            <a:ext cx="101498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2"/>
              </a:lnSpc>
              <a:buNone/>
            </a:pPr>
            <a:r>
              <a:rPr lang="zh-CN" altLang="en-US" sz="900" dirty="0">
                <a:solidFill>
                  <a:srgbClr val="6E655C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两轮检查：标识可读性与参观路线。正式开放日期另行公布。</a:t>
            </a:r>
            <a:endParaRPr lang="zh-CN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05156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40"/>
              </a:lnSpc>
              <a:buNone/>
            </a:pPr>
            <a:r>
              <a:rPr lang="zh-CN" altLang="en-US" sz="4000" dirty="0">
                <a:solidFill>
                  <a:srgbClr val="292521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先确认场地与展期</a:t>
            </a:r>
            <a:endParaRPr lang="zh-CN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2514600"/>
            <a:ext cx="6400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zh-CN" altLang="en-US" sz="2500" dirty="0">
                <a:solidFill>
                  <a:srgbClr val="292521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再细化作品清单、灯光和导览。</a:t>
            </a:r>
            <a:endParaRPr lang="zh-CN" sz="2500" dirty="0"/>
          </a:p>
          <a:p>
            <a:pPr algn="l" indent="0" marL="0">
              <a:lnSpc>
                <a:spcPts val="3200"/>
              </a:lnSpc>
              <a:buNone/>
            </a:pPr>
            <a:r>
              <a:rPr lang="zh-CN" altLang="en-US" sz="2500" dirty="0">
                <a:solidFill>
                  <a:srgbClr val="292521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当前不承诺开放日期，不对外发布预约。</a:t>
            </a:r>
            <a:endParaRPr lang="zh-CN" sz="25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0"/>
              </a:lnSpc>
              <a:buNone/>
            </a:pPr>
            <a:r>
              <a:rPr lang="zh-CN" altLang="en-US" sz="2000" dirty="0">
                <a:solidFill>
                  <a:srgbClr val="292521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建议展期四周；具体场馆、日期与票务待定。</a:t>
            </a:r>
            <a:endParaRPr lang="zh-CN" sz="2000" dirty="0"/>
          </a:p>
        </p:txBody>
      </p:sp>
      <p:sp>
        <p:nvSpPr>
          <p:cNvPr id="5" name="Text 3"/>
          <p:cNvSpPr/>
          <p:nvPr/>
        </p:nvSpPr>
        <p:spPr>
          <a:xfrm>
            <a:off x="8321040" y="251460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16"/>
              </a:lnSpc>
              <a:buNone/>
            </a:pPr>
            <a:r>
              <a:rPr lang="zh-CN" altLang="en-US" sz="2200" dirty="0">
                <a:solidFill>
                  <a:srgbClr val="292521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大字导览、方向标识</a:t>
            </a:r>
            <a:endParaRPr lang="zh-CN" sz="2200" dirty="0"/>
          </a:p>
          <a:p>
            <a:pPr algn="l" indent="0" marL="0">
              <a:lnSpc>
                <a:spcPts val="2816"/>
              </a:lnSpc>
              <a:buNone/>
            </a:pPr>
            <a:r>
              <a:rPr lang="zh-CN" altLang="en-US" sz="2200" dirty="0">
                <a:solidFill>
                  <a:srgbClr val="292521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与无障碍动线检查</a:t>
            </a:r>
            <a:endParaRPr lang="zh-CN" sz="2200" dirty="0"/>
          </a:p>
        </p:txBody>
      </p:sp>
      <p:sp>
        <p:nvSpPr>
          <p:cNvPr id="6" name="Text 4"/>
          <p:cNvSpPr/>
          <p:nvPr/>
        </p:nvSpPr>
        <p:spPr>
          <a:xfrm>
            <a:off x="8229600" y="4297680"/>
            <a:ext cx="3337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zh-CN" altLang="en-US" sz="1500" dirty="0">
                <a:solidFill>
                  <a:srgbClr val="292521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内容仍须复核；</a:t>
            </a:r>
            <a:endParaRPr lang="zh-CN" sz="1500" dirty="0"/>
          </a:p>
          <a:p>
            <a:pPr algn="l" indent="0" marL="0">
              <a:lnSpc>
                <a:spcPts val="1920"/>
              </a:lnSpc>
              <a:buNone/>
            </a:pPr>
            <a:r>
              <a:rPr lang="zh-CN" altLang="en-US" sz="1500" dirty="0">
                <a:solidFill>
                  <a:srgbClr val="292521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动线检查不等于认证。</a:t>
            </a:r>
            <a:endParaRPr lang="zh-CN" sz="1500" dirty="0"/>
          </a:p>
          <a:p>
            <a:pPr algn="l" indent="0" marL="0">
              <a:lnSpc>
                <a:spcPts val="1920"/>
              </a:lnSpc>
              <a:buNone/>
            </a:pPr>
            <a:r>
              <a:rPr lang="zh-CN" altLang="en-US" sz="1500" dirty="0">
                <a:solidFill>
                  <a:srgbClr val="292521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预算、人员姓名、设备清单</a:t>
            </a:r>
            <a:endParaRPr lang="zh-CN" sz="1500" dirty="0"/>
          </a:p>
          <a:p>
            <a:pPr algn="l" indent="0" marL="0">
              <a:lnSpc>
                <a:spcPts val="1920"/>
              </a:lnSpc>
              <a:buNone/>
            </a:pPr>
            <a:r>
              <a:rPr lang="zh-CN" altLang="en-US" sz="1500" dirty="0">
                <a:solidFill>
                  <a:srgbClr val="292521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与票价未提供。</a:t>
            </a:r>
            <a:endParaRPr lang="zh-CN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256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80"/>
              </a:lnSpc>
              <a:buNone/>
            </a:pPr>
            <a:r>
              <a:rPr lang="zh-CN" altLang="en-US" sz="1000" b="1" dirty="0">
                <a:solidFill>
                  <a:srgbClr val="6E6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静观之间 / CURATORIAL PROPOSAL</a:t>
            </a:r>
            <a:endParaRPr lang="zh-CN" sz="1000" dirty="0"/>
          </a:p>
        </p:txBody>
      </p:sp>
      <p:sp>
        <p:nvSpPr>
          <p:cNvPr id="8" name="Text 6"/>
          <p:cNvSpPr/>
          <p:nvPr/>
        </p:nvSpPr>
        <p:spPr>
          <a:xfrm>
            <a:off x="11155680" y="6373368"/>
            <a:ext cx="429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2"/>
              </a:lnSpc>
              <a:buNone/>
            </a:pPr>
            <a:r>
              <a:rPr lang="zh-CN" altLang="en-US" sz="900" dirty="0">
                <a:solidFill>
                  <a:srgbClr val="6E6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zh-CN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6336792"/>
            <a:ext cx="101498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2"/>
              </a:lnSpc>
              <a:buNone/>
            </a:pPr>
            <a:r>
              <a:rPr lang="zh-CN" altLang="en-US" sz="900" dirty="0">
                <a:solidFill>
                  <a:srgbClr val="6E655C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虚构展览与数据，仅作设计示例。空间配图由 AI 生成。</a:t>
            </a:r>
            <a:endParaRPr lang="zh-CN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ongti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Hiragino Sans GB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静观之间 · 秋季展览提案</dc:title>
  <dc:subject/>
  <dc:creator>PPT Design &amp; Polish</dc:creator>
  <cp:lastModifiedBy>PPT Design &amp; Polish</cp:lastModifiedBy>
  <cp:revision>1</cp:revision>
  <dcterms:created xsi:type="dcterms:W3CDTF">2026-10-21T16:45:48Z</dcterms:created>
  <dcterms:modified xsi:type="dcterms:W3CDTF">2026-10-21T16:45:48Z</dcterms:modified>
</cp:coreProperties>
</file>